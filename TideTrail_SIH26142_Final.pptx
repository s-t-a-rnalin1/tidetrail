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4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018" autoAdjust="0"/>
  </p:normalViewPr>
  <p:slideViewPr>
    <p:cSldViewPr snapToGrid="0" snapToObjects="1">
      <p:cViewPr varScale="1">
        <p:scale>
          <a:sx n="95" d="100"/>
          <a:sy n="95" d="100"/>
        </p:scale>
        <p:origin x="206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AFA02-0E2A-4944-B3B7-574F66D1FE45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EFC9C-BACB-4BBF-914A-606737153E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61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doi.org/10.1016/j.rse.2017.09.002" TargetMode="External"/><Relationship Id="rId4" Type="http://schemas.openxmlformats.org/officeDocument/2006/relationships/hyperlink" Target="https://www.researchgate.net/publication/319985929_Oil_spill_detection_by_imaging_radars_Challenges_and_pitfalls" TargetMode="External"/><Relationship Id="rId5" Type="http://schemas.openxmlformats.org/officeDocument/2006/relationships/hyperlink" Target="https://arxiv.org/abs/1807.10165" TargetMode="External"/><Relationship Id="rId6" Type="http://schemas.openxmlformats.org/officeDocument/2006/relationships/hyperlink" Target="https://doi.org/10.1109/TMI.2019.2959609" TargetMode="External"/><Relationship Id="rId7" Type="http://schemas.openxmlformats.org/officeDocument/2006/relationships/hyperlink" Target="https://response.restoration.noaa.gov/oil-and-chemical-spills/oil-spills/response-tools/gnome-suite.html" TargetMode="External"/><Relationship Id="rId8" Type="http://schemas.openxmlformats.org/officeDocument/2006/relationships/hyperlink" Target="https://repository.library.noaa.gov/view/noaa/12173" TargetMode="External"/><Relationship Id="rId9" Type="http://schemas.openxmlformats.org/officeDocument/2006/relationships/hyperlink" Target="https://numerical.recipes/" TargetMode="External"/><Relationship Id="rId10" Type="http://schemas.openxmlformats.org/officeDocument/2006/relationships/hyperlink" Target="https://en.wikipedia.org/wiki/Midpoint_method" TargetMode="External"/><Relationship Id="rId11" Type="http://schemas.openxmlformats.org/officeDocument/2006/relationships/hyperlink" Target="https://doi.org/10.5281/zenodo.8346860" TargetMode="External"/><Relationship Id="rId12" Type="http://schemas.openxmlformats.org/officeDocument/2006/relationships/hyperlink" Target="https://doi.org/10.5281/zenodo.8253899" TargetMode="External"/><Relationship Id="rId13" Type="http://schemas.openxmlformats.org/officeDocument/2006/relationships/hyperlink" Target="https://doi.org/10.5281/zenodo.13761290" TargetMode="External"/><Relationship Id="rId14" Type="http://schemas.openxmlformats.org/officeDocument/2006/relationships/hyperlink" Target="https://planetarycomputer.microsoft.com/dataset/sentinel-1-grd" TargetMode="External"/><Relationship Id="rId15" Type="http://schemas.openxmlformats.org/officeDocument/2006/relationships/hyperlink" Target="https://marinecadastre.gov/accessais/" TargetMode="External"/><Relationship Id="rId16" Type="http://schemas.openxmlformats.org/officeDocument/2006/relationships/hyperlink" Target="https://www.ecmwf.int/en/forecasts/dataset/ecmwf-reanalysis-v5" TargetMode="External"/><Relationship Id="rId17" Type="http://schemas.openxmlformats.org/officeDocument/2006/relationships/hyperlink" Target="https://archive-api.open-meteo.com/" TargetMode="External"/><Relationship Id="rId18" Type="http://schemas.openxmlformats.org/officeDocument/2006/relationships/hyperlink" Target="https://response.restoration.noaa.gov/oil-and-chemical-spills/oil-spills/response-tools/gnome-suite-oil-spill-modeling.html" TargetMode="External"/><Relationship Id="rId19" Type="http://schemas.openxmlformats.org/officeDocument/2006/relationships/hyperlink" Target="https://planetarycomputer.microsoft.com/dataset/sentinel-1-rtc" TargetMode="External"/><Relationship Id="rId20" Type="http://schemas.openxmlformats.org/officeDocument/2006/relationships/hyperlink" Target="https://open-meteo.com/en/docs/marine-weather-api" TargetMode="External"/><Relationship Id="rId21" Type="http://schemas.openxmlformats.org/officeDocument/2006/relationships/hyperlink" Target="https://doi.org/10.5194/gmd-11-1405-2018" TargetMode="External"/><Relationship Id="rId22" Type="http://schemas.openxmlformats.org/officeDocument/2006/relationships/hyperlink" Target="https://arxiv.org/abs/1501.00092" TargetMode="External"/><Relationship Id="rId23" Type="http://schemas.openxmlformats.org/officeDocument/2006/relationships/hyperlink" Target="https://doi.org/10.1109/TPAMI.2015.2439281" TargetMode="External"/><Relationship Id="rId24" Type="http://schemas.openxmlformats.org/officeDocument/2006/relationships/hyperlink" Target="https://arxiv.org/abs/1707.02921" TargetMode="External"/><Relationship Id="rId25" Type="http://schemas.openxmlformats.org/officeDocument/2006/relationships/hyperlink" Target="https://arxiv.org/abs/1809.00219" TargetMode="External"/><Relationship Id="rId26" Type="http://schemas.openxmlformats.org/officeDocument/2006/relationships/hyperlink" Target="https://arxiv.org/abs/2108.10257" TargetMode="External"/><Relationship Id="rId27" Type="http://schemas.openxmlformats.org/officeDocument/2006/relationships/hyperlink" Target="https://arxiv.org/abs/1803.04271" TargetMode="External"/><Relationship Id="rId28" Type="http://schemas.openxmlformats.org/officeDocument/2006/relationships/hyperlink" Target="https://doi.org/10.1016/j.isprsjprs.2018.09.018" TargetMode="External"/><Relationship Id="rId29" Type="http://schemas.openxmlformats.org/officeDocument/2006/relationships/hyperlink" Target="https://arxiv.org/abs/2207.06418" TargetMode="External"/><Relationship Id="rId30" Type="http://schemas.openxmlformats.org/officeDocument/2006/relationships/hyperlink" Target="https://doi.org/10.3390/data7070096" TargetMode="External"/><Relationship Id="rId31" Type="http://schemas.openxmlformats.org/officeDocument/2006/relationships/hyperlink" Target="https://arxiv.org/abs/1703.04977" TargetMode="External"/><Relationship Id="rId32" Type="http://schemas.openxmlformats.org/officeDocument/2006/relationships/hyperlink" Target="https://browser.dataspace.copernicus.eu" TargetMode="External"/><Relationship Id="rId33" Type="http://schemas.openxmlformats.org/officeDocument/2006/relationships/hyperlink" Target="https://planetarycomputer.microsoft.com/dataset/sentinel-2-l2a" TargetMode="External"/><Relationship Id="rId34" Type="http://schemas.openxmlformats.org/officeDocument/2006/relationships/hyperlink" Target="https://planetarycomputer.microsoft.com/dataset/nai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474664" y="2077950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72686" y="537815"/>
            <a:ext cx="8534400" cy="1752600"/>
          </a:xfrm>
        </p:spPr>
        <p:txBody>
          <a:bodyPr/>
          <a:lstStyle/>
          <a:p>
            <a:endParaRPr lang="en-US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 err="1">
                <a:solidFill>
                  <a:schemeClr val="tx1"/>
                </a:solidFill>
              </a:rPr>
              <a:t>TideTrail SRM</a:t>
            </a:r>
            <a:r>
              <a:rPr lang="en-US" b="1" u="sng" dirty="0" err="1">
                <a:solidFill>
                  <a:schemeClr val="tx1"/>
                </a:solidFill>
              </a:rPr>
              <a:t>: Deep Learning Super-Resolution of Sentinel-2 Imagery, 10 m to 2.5 m</a:t>
            </a:r>
            <a:endParaRPr lang="en-IN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1151" y="1871190"/>
            <a:ext cx="8211582" cy="3907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- SIH</a:t>
            </a:r>
            <a:r>
              <a:rPr lang="en-IN" sz="2400" b="1" dirty="0"/>
              <a:t>26142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200" b="1" dirty="0">
                <a:latin typeface="Arial" panose="020B0604020202020204" pitchFamily="34" charset="0"/>
                <a:cs typeface="Arial" panose="020B0604020202020204" pitchFamily="34" charset="0"/>
              </a:rPr>
              <a:t>Deep Learning Based Super Resolution Mapping (SRM) from Medium Resolution Satellite Imageries</a:t>
            </a:r>
            <a:r>
              <a:rPr lang="en-IN" sz="2200" b="1" dirty="0"/>
              <a:t/>
            </a:r>
            <a:endParaRPr lang="en-US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Theme-  Space Technology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ID- SIH361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Name - Meridian</a:t>
            </a:r>
            <a:endParaRPr lang="en-IN" sz="2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565392"/>
            <a:ext cx="11091672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dirty="0">
                <a:solidFill>
                  <a:srgbClr val="00B050"/>
                </a:solidFill>
                <a:latin typeface="Calibri"/>
              </a:rPr>
              <a:t>Slide 2 of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907" y="1377070"/>
            <a:ext cx="5349240" cy="2468880"/>
          </a:xfrm>
          <a:prstGeom prst="roundRect">
            <a:avLst>
              <a:gd name="adj" fmla="val 26290"/>
            </a:avLst>
          </a:prstGeom>
          <a:solidFill>
            <a:srgbClr val="F8FAFC"/>
          </a:solidFill>
          <a:ln w="1524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816585"/>
            <a:ext cx="1109167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A2540"/>
                </a:solidFill>
                <a:latin typeface="Trebuchet MS"/>
              </a:defRPr>
            </a:pP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TideTrail SRM: Super-Resolution Mapping of Sentinel-2 Imagery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907" y="3913344"/>
            <a:ext cx="5349240" cy="2468880"/>
          </a:xfrm>
          <a:prstGeom prst="roundRect">
            <a:avLst>
              <a:gd name="adj" fmla="val 24005"/>
            </a:avLst>
          </a:prstGeom>
          <a:solidFill>
            <a:srgbClr val="F8FAFC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8067" y="1505008"/>
            <a:ext cx="50749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rPr lang="en-IN" sz="1400" dirty="0"/>
              <a:t> </a:t>
            </a:r>
            <a:r>
              <a:rPr sz="1400" dirty="0"/>
              <a:t>• How It Addresses the NTRO 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067" y="1792392"/>
            <a:ext cx="5074920" cy="17312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300"/>
              </a:spcAft>
            </a:pPr>
            <a:r>
              <a:rPr lang="en-IN" sz="1400" b="1" dirty="0">
                <a:solidFill>
                  <a:srgbClr val="0A2540"/>
                </a:solidFill>
              </a:rPr>
              <a:t>- 4x Sharper, Spectrally Faithful:</a:t>
            </a:r>
            <a:r>
              <a:rPr sz="1400" dirty="0" b="0">
                <a:solidFill>
                  <a:srgbClr val="1E293B"/>
                </a:solidFill>
              </a:rPr>
              <a:t> Sentinel-2 blue, green, red and NIR go from 10 m to 2.5 m on an exact grid. Averaged back to 10 m, the result matches the satellite pixel (error 0.0001).</a:t>
            </a:r>
          </a:p>
          <a:p>
            <a:pPr lvl="0" algn="just"/>
            <a:r>
              <a:rPr lang="en-IN" sz="1400" b="1" dirty="0"/>
              <a:t>- Validated, Not Claimed:</a:t>
            </a:r>
            <a:r>
              <a:rPr lang="en-IN" sz="1400" dirty="0" b="0"/>
              <a:t> 4 held-out scenes in CO, LA, MN, scored against 0.6 m aerial imagery: 37.25 dB PSNR, bicubic 37.00 dB.</a:t>
            </a:r>
          </a:p>
          <a:p>
            <a:pPr lvl="0" algn="just"/>
            <a:r>
              <a:rPr lang="en-IN" sz="1400" b="1" dirty="0"/>
              <a:t>- Error Is Accounted For:</a:t>
            </a:r>
            <a:r>
              <a:rPr lang="en-IN" sz="1400" dirty="0" b="0"/>
              <a:t> every pixel carries an uncertainty value; it ranks real error (rank correlation 0.24) and its 90% intervals held 91% of the time.</a:t>
            </a:r>
          </a:p>
          <a:p>
            <a:pPr>
              <a:spcAft>
                <a:spcPts val="300"/>
              </a:spcAft>
            </a:pPr>
            <a:r>
              <a:rPr sz="1200" dirty="0" b="0">
                <a:solidFill>
                  <a:srgbClr val="1E293B"/>
                </a:solidFill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67307" y="1425787"/>
            <a:ext cx="5673005" cy="2331720"/>
          </a:xfrm>
          <a:prstGeom prst="roundRect">
            <a:avLst>
              <a:gd name="adj" fmla="val 30144"/>
            </a:avLst>
          </a:prstGeom>
          <a:solidFill>
            <a:srgbClr val="F8FAFC"/>
          </a:solidFill>
          <a:ln w="1524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508760"/>
            <a:ext cx="528523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rPr lang="en-IN" sz="1400" dirty="0"/>
              <a:t> </a:t>
            </a:r>
            <a:r>
              <a:rPr sz="1400" dirty="0"/>
              <a:t>• Innovation and Uniqueness of the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8701" y="1794581"/>
            <a:ext cx="5285232" cy="12926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just"/>
            <a:r>
              <a:rPr lang="en-IN" sz="1400" b="1" dirty="0"/>
              <a:t>- Detail On A Safe Base:</a:t>
            </a:r>
            <a:r>
              <a:rPr lang="en-IN" sz="1400" dirty="0" b="0"/>
              <a:t> the network adds learned detail to a bicubic enlargement, so it starts from a faithful image instead of inventing one.</a:t>
            </a:r>
          </a:p>
          <a:p>
            <a:pPr lvl="0" algn="just"/>
            <a:r>
              <a:rPr lang="en-IN" sz="1400" b="1" dirty="0"/>
              <a:t>- Consistency Step:</a:t>
            </a:r>
            <a:r>
              <a:rPr lang="en-IN" sz="1400" dirty="0" b="0"/>
              <a:t> after inference every 10 m pixel is moved back to what the satellite measured; only the detail inside it is kept.</a:t>
            </a:r>
          </a:p>
          <a:p>
            <a:pPr lvl="0" algn="just"/>
            <a:r>
              <a:rPr lang="en-IN" sz="1400" b="1" dirty="0"/>
              <a:t>- Doubt Is Shown:</a:t>
            </a:r>
            <a:r>
              <a:rPr lang="en-IN" sz="1400" dirty="0" b="0"/>
              <a:t> a second map marks where detail is inferred, not observed, so analysts can discount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840480"/>
            <a:ext cx="5559552" cy="2633134"/>
          </a:xfrm>
          <a:prstGeom prst="roundRect">
            <a:avLst>
              <a:gd name="adj" fmla="val 18469"/>
            </a:avLst>
          </a:prstGeom>
          <a:solidFill>
            <a:srgbClr val="F8FAFC"/>
          </a:solidFill>
          <a:ln w="1524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3845950"/>
            <a:ext cx="528523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rPr lang="en-IN" dirty="0"/>
              <a:t>  Prototype: 10 m and 2.5 m, Swipe to Compare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54C50A9-F37C-BF6A-4467-DB562D85AC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742" y="35759"/>
            <a:ext cx="2249850" cy="10623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8067" y="4339556"/>
            <a:ext cx="5074920" cy="18558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just"/>
            <a:r>
              <a:rPr lang="en-IN" sz="1400" b="1" dirty="0"/>
              <a:t>Step 1 Data In:</a:t>
            </a:r>
            <a:r>
              <a:rPr lang="en-IN" sz="1400" dirty="0" b="0"/>
              <a:t> Sentinel-2 L2A bands B2, B3, B4 and B8 at 10 m, uploaded as a GeoTIFF.</a:t>
            </a:r>
          </a:p>
          <a:p>
            <a:pPr lvl="0" algn="just"/>
            <a:r>
              <a:rPr lang="en-IN" sz="1400" b="1" dirty="0"/>
              <a:t>Step 2 Pre-process:</a:t>
            </a:r>
            <a:r>
              <a:rPr lang="en-IN" sz="1400" dirty="0" b="0"/>
              <a:t> reflectance, cloud screening, sub-pixel registration and radiometric matching to aerial references.</a:t>
            </a:r>
          </a:p>
          <a:p>
            <a:pPr lvl="0" algn="just"/>
            <a:r>
              <a:rPr lang="en-IN" sz="1400" b="1" dirty="0"/>
              <a:t>Step 3 Super-resolve:</a:t>
            </a:r>
            <a:r>
              <a:rPr lang="en-IN" sz="1400" dirty="0" b="0"/>
              <a:t> residual CNN with sub-pixel convolution, tiled inference, uncertainty head.</a:t>
            </a:r>
          </a:p>
          <a:p>
            <a:pPr lvl="0" algn="just"/>
            <a:r>
              <a:rPr lang="en-IN" sz="1400" b="1" dirty="0"/>
              <a:t>Step 4 Validate:</a:t>
            </a:r>
            <a:r>
              <a:rPr lang="en-IN" sz="1400" dirty="0" b="0"/>
              <a:t> PSNR, SSIM, spectral angle, NDVI, water and edge checks on regions the model never saw.</a:t>
            </a:r>
          </a:p>
          <a:p>
            <a:pPr>
              <a:spcAft>
                <a:spcPts val="300"/>
              </a:spcAft>
            </a:pPr>
            <a:endParaRPr sz="860" dirty="0">
              <a:solidFill>
                <a:srgbClr val="1E293B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4002245"/>
            <a:ext cx="50749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rPr lang="en-IN" sz="1400" dirty="0"/>
              <a:t>   </a:t>
            </a:r>
            <a:r>
              <a:rPr sz="1400" dirty="0"/>
              <a:t>• Detailed Explanation of the Proposed Solution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2903647-9590-A98E-D243-760F433F9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076" y="4078224"/>
            <a:ext cx="5074920" cy="2358015"/>
          </a:xfrm>
          <a:prstGeom prst="rect">
            <a:avLst/>
          </a:prstGeom>
        </p:spPr>
      </p:pic>
      <p:sp>
        <p:nvSpPr>
          <p:cNvPr id="30" name="Oval 29" descr="Your startup LOGO">
            <a:extLst>
              <a:ext uri="{FF2B5EF4-FFF2-40B4-BE49-F238E27FC236}">
                <a16:creationId xmlns:a16="http://schemas.microsoft.com/office/drawing/2014/main" id="{6E9425C1-15FC-3CC1-322B-305A332FCBF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7861" y="6181"/>
            <a:ext cx="1455662" cy="65637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Meridian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B87C6-B2B5-79D9-70ED-AD10B800FF2F}"/>
              </a:ext>
            </a:extLst>
          </p:cNvPr>
          <p:cNvSpPr txBox="1"/>
          <p:nvPr/>
        </p:nvSpPr>
        <p:spPr>
          <a:xfrm>
            <a:off x="2509878" y="121833"/>
            <a:ext cx="664053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/>
              <a:t>PROPOSED SOLUTION (IDEA / SOLUTION / PROTOTYPE)</a:t>
            </a:r>
          </a:p>
          <a:p>
            <a:pPr algn="ctr"/>
            <a:endParaRPr lang="en-IN" sz="22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FF39C49-4F3A-A148-2C83-07FE88B9F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357" y="866204"/>
            <a:ext cx="8343673" cy="311642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48640" y="6565392"/>
            <a:ext cx="11091672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dirty="0">
                <a:solidFill>
                  <a:srgbClr val="00B050"/>
                </a:solidFill>
                <a:latin typeface="Calibri"/>
              </a:rPr>
              <a:t>Slide 3 of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0760"/>
            <a:ext cx="1081735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rPr sz="1400" dirty="0"/>
              <a:t>• </a:t>
            </a:r>
            <a:r>
              <a:rPr lang="en-IN" sz="1400" dirty="0"/>
              <a:t>Architecture </a:t>
            </a:r>
            <a:r>
              <a:rPr sz="1400" dirty="0"/>
              <a:t>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5349240" cy="24688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069079"/>
            <a:ext cx="50749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rPr sz="1400" dirty="0"/>
              <a:t>• Technologies to be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15968"/>
            <a:ext cx="5074920" cy="16106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350"/>
              </a:spcAft>
            </a:pPr>
            <a:r>
              <a:rPr lang="en-IN" sz="1400" b="1" dirty="0">
                <a:solidFill>
                  <a:srgbClr val="0A2540"/>
                </a:solidFill>
                <a:latin typeface="Calibri"/>
              </a:rPr>
              <a:t>- Deep Learning: </a:t>
            </a:r>
            <a:r>
              <a:rPr sz="1400" dirty="0" err="1" b="0">
                <a:solidFill>
                  <a:srgbClr val="1E293B"/>
                </a:solidFill>
                <a:latin typeface="Calibri"/>
              </a:rPr>
              <a:t>PyTorch residual CNN, 0.69 M parameters, sub-pixel convolution, Laplace uncertainty head; trained on 27 Sentinel-2 and aerial pairs.</a:t>
            </a:r>
            <a:endParaRPr lang="en-IN" sz="1400" dirty="0">
              <a:solidFill>
                <a:srgbClr val="1E293B"/>
              </a:solidFill>
              <a:latin typeface="Calibri"/>
            </a:endParaRPr>
          </a:p>
          <a:p>
            <a:pPr algn="just">
              <a:spcAft>
                <a:spcPts val="350"/>
              </a:spcAft>
            </a:pPr>
            <a:r>
              <a:rPr lang="en-IN" sz="1400" b="1" dirty="0">
                <a:solidFill>
                  <a:srgbClr val="0A2540"/>
                </a:solidFill>
                <a:latin typeface="Calibri"/>
              </a:rPr>
              <a:t>- Geospatial &amp; Backend: </a:t>
            </a:r>
            <a:r>
              <a:rPr sz="1400" dirty="0" err="1" b="0">
                <a:solidFill>
                  <a:srgbClr val="1E293B"/>
                </a:solidFill>
                <a:latin typeface="Calibri"/>
              </a:rPr>
              <a:t>rasterio on Cloud Optimized GeoTIFFs, phase-correlation registration, FastAPI; runs fully offline on a CPU.</a:t>
            </a:r>
          </a:p>
          <a:p>
            <a:pPr algn="just">
              <a:spcAft>
                <a:spcPts val="350"/>
              </a:spcAft>
            </a:pPr>
            <a:r>
              <a:rPr lang="en-IN" sz="1400" b="1" dirty="0">
                <a:solidFill>
                  <a:srgbClr val="0A2540"/>
                </a:solidFill>
                <a:latin typeface="Calibri"/>
              </a:rPr>
              <a:t>- Visual Console: </a:t>
            </a:r>
            <a:r>
              <a:rPr sz="1400" dirty="0" b="0">
                <a:solidFill>
                  <a:srgbClr val="1E293B"/>
                </a:solidFill>
                <a:latin typeface="Calibri"/>
              </a:rPr>
              <a:t>Vanilla HTML5/ES6, Leaflet 1.9, swipe compare, NDVI and water layers, uncertainty overlay.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3977639"/>
            <a:ext cx="5559552" cy="24688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4018427"/>
            <a:ext cx="528523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rPr sz="1400" dirty="0"/>
              <a:t>• Prototype: Uncertainty and Accuracy Panels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C59F56D-3D2E-2FE2-4E98-12A27F7EBC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150" y="-6205"/>
            <a:ext cx="2249850" cy="1062337"/>
          </a:xfrm>
          <a:prstGeom prst="rect">
            <a:avLst/>
          </a:prstGeom>
        </p:spPr>
      </p:pic>
      <p:sp>
        <p:nvSpPr>
          <p:cNvPr id="19" name="Oval 18" descr="Your startup LOGO">
            <a:extLst>
              <a:ext uri="{FF2B5EF4-FFF2-40B4-BE49-F238E27FC236}">
                <a16:creationId xmlns:a16="http://schemas.microsoft.com/office/drawing/2014/main" id="{33A47FF9-BF51-9491-3791-C9FBAD76215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7861" y="6181"/>
            <a:ext cx="1455662" cy="65637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Meridian</a:t>
            </a:r>
            <a:endParaRPr lang="en-IN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D8F0274-146B-344D-B596-DE713CAE8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812" y="4233871"/>
            <a:ext cx="3357338" cy="21394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5E3660-A10C-6DE4-F543-3B808D4E87E5}"/>
              </a:ext>
            </a:extLst>
          </p:cNvPr>
          <p:cNvSpPr txBox="1"/>
          <p:nvPr/>
        </p:nvSpPr>
        <p:spPr>
          <a:xfrm>
            <a:off x="1231211" y="139998"/>
            <a:ext cx="858393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TECHNICAL APPROACH (TECHNOLOGIES, PROCESS &amp; WORKING PROTOTYPE)</a:t>
            </a:r>
          </a:p>
          <a:p>
            <a:pPr algn="ctr"/>
            <a:endParaRPr lang="en-IN" sz="22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565392"/>
            <a:ext cx="11091672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dirty="0">
                <a:solidFill>
                  <a:srgbClr val="00B050"/>
                </a:solidFill>
                <a:latin typeface="Calibri"/>
              </a:rPr>
              <a:t>Slide 4 of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472" y="2996665"/>
            <a:ext cx="5404104" cy="1664208"/>
          </a:xfrm>
          <a:prstGeom prst="roundRect">
            <a:avLst>
              <a:gd name="adj" fmla="val 30455"/>
            </a:avLst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029593"/>
            <a:ext cx="512978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rPr sz="1400" dirty="0"/>
              <a:t>• Challenge 1: Invented Detail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632" y="3405422"/>
            <a:ext cx="5129784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just"/>
            <a:r>
              <a:rPr lang="en-IN" sz="1400" b="1" dirty="0"/>
              <a:t>The Risk:</a:t>
            </a:r>
            <a:r>
              <a:rPr lang="en-IN" sz="1400" dirty="0" b="0"/>
              <a:t> a sharper image can contain texture the satellite never saw, and mislead an analyst.</a:t>
            </a:r>
          </a:p>
          <a:p>
            <a:pPr lvl="0" algn="just"/>
            <a:r>
              <a:rPr lang="en-IN" sz="1400" b="1" dirty="0"/>
              <a:t>Our Solution:</a:t>
            </a:r>
            <a:r>
              <a:rPr lang="en-IN" sz="1400" dirty="0" b="0"/>
              <a:t> learned detail on a bicubic base, a step that keeps every 10 m value, and an uncertainty map that marks inferred detail.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6264" y="2980623"/>
            <a:ext cx="5404104" cy="1664208"/>
          </a:xfrm>
          <a:prstGeom prst="roundRect">
            <a:avLst>
              <a:gd name="adj" fmla="val 30455"/>
            </a:avLst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3368" y="2971800"/>
            <a:ext cx="5129784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rPr sz="1400" dirty="0"/>
              <a:t>• Challenge 2: The Reference Disagrees</a:t>
            </a:r>
          </a:p>
        </p:txBody>
      </p:sp>
      <p:sp xmlns:a14="http://schemas.microsoft.com/office/drawing/2010/main">
        <p:nvSpPr>
          <p:cNvPr id="21" name="TextBox 20"/>
          <p:cNvSpPr txBox="1"/>
          <p:nvPr/>
        </p:nvSpPr>
        <p:spPr>
          <a:xfrm>
            <a:off x="6373368" y="3402687"/>
            <a:ext cx="5129784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just"/>
            <a:r>
              <a:rPr lang="en-IN" sz="1400" b="1" dirty="0"/>
              <a:t>The Risk:</a:t>
            </a:r>
            <a:r>
              <a:rPr lang="en-IN" sz="1400" dirty="0" b="0"/>
              <a:t> aerial and satellite images differ in date, sun angle and registration; averaged to 10 m the aerial image sits 0.05 reflectance from Sentinel-2.</a:t>
            </a:r>
          </a:p>
          <a:p>
            <a:pPr lvl="0" algn="just"/>
            <a:r>
              <a:rPr lang="en-IN" sz="1400" b="1" dirty="0"/>
              <a:t>Our Solution:</a:t>
            </a:r>
            <a:r>
              <a:rPr lang="en-IN" sz="1400" dirty="0" b="0"/>
              <a:t> sub-pixel registration, per-band radiometric matching, cloud screening, and a reference anchored to the Sentinel-2 pixels.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50692" y="4801562"/>
            <a:ext cx="5404104" cy="1664208"/>
          </a:xfrm>
          <a:prstGeom prst="roundRect">
            <a:avLst>
              <a:gd name="adj" fmla="val 34016"/>
            </a:avLst>
          </a:prstGeom>
          <a:solidFill>
            <a:schemeClr val="bg2">
              <a:lumMod val="90000"/>
            </a:schemeClr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25012" y="4860317"/>
            <a:ext cx="5129784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rPr sz="1400" dirty="0"/>
              <a:t>• Challenge 3: Generalising to India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5012" y="5300044"/>
            <a:ext cx="5129784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just"/>
            <a:r>
              <a:rPr lang="en-IN" sz="1400" b="1" dirty="0"/>
              <a:t>The Risk:</a:t>
            </a:r>
            <a:r>
              <a:rPr lang="en-IN" sz="1400" dirty="0" b="0"/>
              <a:t> free aerial references exist only in the US, so Indian scenes cannot be scored directly.</a:t>
            </a:r>
          </a:p>
          <a:p>
            <a:pPr lvl="0" algn="just"/>
            <a:r>
              <a:rPr lang="en-IN" sz="1400" b="1" dirty="0"/>
              <a:t>Our Solution:</a:t>
            </a:r>
            <a:r>
              <a:rPr lang="en-IN" sz="1400" dirty="0" b="0"/>
              <a:t> </a:t>
            </a:r>
            <a:r>
              <a:rPr lang="en-IN" sz="1400" b="1" dirty="0"/>
              <a:t>region-held-out testing</a:t>
            </a:r>
            <a:r>
              <a:rPr lang="en-IN" sz="1400" dirty="0" b="0"/>
              <a:t> in states the model never saw, an uncertainty map that reports doubt, and retraining on NTRO references when supplied.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424955D-995A-830F-652A-2E82D1235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1803" y="28569"/>
            <a:ext cx="2249850" cy="1062337"/>
          </a:xfrm>
          <a:prstGeom prst="rect">
            <a:avLst/>
          </a:prstGeom>
        </p:spPr>
      </p:pic>
      <p:sp>
        <p:nvSpPr>
          <p:cNvPr id="29" name="Oval 28" descr="Your startup LOGO">
            <a:extLst>
              <a:ext uri="{FF2B5EF4-FFF2-40B4-BE49-F238E27FC236}">
                <a16:creationId xmlns:a16="http://schemas.microsoft.com/office/drawing/2014/main" id="{C1A0DD7B-91A9-6178-892A-EF2E831A59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7861" y="6181"/>
            <a:ext cx="1455662" cy="65637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Meridian</a:t>
            </a:r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674D09-4E3C-D864-306C-3A5F327173B3}"/>
              </a:ext>
            </a:extLst>
          </p:cNvPr>
          <p:cNvSpPr txBox="1"/>
          <p:nvPr/>
        </p:nvSpPr>
        <p:spPr>
          <a:xfrm>
            <a:off x="1406316" y="116872"/>
            <a:ext cx="869019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FEASIBILITY AND VIABILITY (ANALYSIS, RISKS &amp; MITIGATION STRATEGIES)</a:t>
            </a:r>
          </a:p>
          <a:p>
            <a:endParaRPr lang="en-IN" sz="2200" b="1" dirty="0"/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48158D95-62A2-99D7-B9F5-234B073BF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885382"/>
              </p:ext>
            </p:extLst>
          </p:nvPr>
        </p:nvGraphicFramePr>
        <p:xfrm>
          <a:off x="1328166" y="1081068"/>
          <a:ext cx="9523476" cy="1791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6179">
                  <a:extLst>
                    <a:ext uri="{9D8B030D-6E8A-4147-A177-3AD203B41FA5}">
                      <a16:colId xmlns:a16="http://schemas.microsoft.com/office/drawing/2014/main" val="90353213"/>
                    </a:ext>
                  </a:extLst>
                </a:gridCol>
                <a:gridCol w="7797297">
                  <a:extLst>
                    <a:ext uri="{9D8B030D-6E8A-4147-A177-3AD203B41FA5}">
                      <a16:colId xmlns:a16="http://schemas.microsoft.com/office/drawing/2014/main" val="2213256854"/>
                    </a:ext>
                  </a:extLst>
                </a:gridCol>
              </a:tblGrid>
              <a:tr h="597184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1. Compute &amp; Speed</a:t>
                      </a:r>
                      <a:endParaRPr lang="en-IN" sz="1400" b="0" i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dirty="0">
                          <a:effectLst/>
                        </a:rPr>
                        <a:t>• under 45 s to enhance a 3.2 km scene on a laptop CPU; no GPU needed.</a:t>
                      </a:r>
                      <a:br>
                        <a:rPr lang="en-IN" sz="1400" dirty="0">
                          <a:effectLst/>
                        </a:rPr>
                      </a:br>
                      <a:r>
                        <a:rPr lang="en-IN" sz="1400" dirty="0">
                          <a:effectLst/>
                        </a:rPr>
                        <a:t>• Training is resumable on the same CPU; this checkpoint is 250 iterations.</a:t>
                      </a:r>
                      <a:endParaRPr lang="en-IN" sz="1400" b="0" i="0" dirty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9054729"/>
                  </a:ext>
                </a:extLst>
              </a:tr>
              <a:tr h="597184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2. Data Access</a:t>
                      </a:r>
                      <a:endParaRPr lang="en-IN" sz="1400" b="0" i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dirty="0">
                          <a:effectLst/>
                        </a:rPr>
                        <a:t>• Free and open: Sentinel-2 L2A from Copernicus, NAIP aerial references from USDA.</a:t>
                      </a:r>
                      <a:br>
                        <a:rPr lang="en-IN" sz="1400" dirty="0">
                          <a:effectLst/>
                        </a:rPr>
                      </a:br>
                      <a:r>
                        <a:rPr lang="en-IN" sz="1400" dirty="0">
                          <a:effectLst/>
                        </a:rPr>
                        <a:t>• NTRO's own high-resolution imagery can serve as the reference.</a:t>
                      </a:r>
                      <a:endParaRPr lang="en-IN" sz="1400" b="0" i="0" dirty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769325"/>
                  </a:ext>
                </a:extLst>
              </a:tr>
              <a:tr h="597184"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>
                          <a:effectLst/>
                        </a:rPr>
                        <a:t>3. Deployment</a:t>
                      </a:r>
                      <a:endParaRPr lang="en-IN" sz="1400" b="0" i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>
                        <a:buNone/>
                      </a:pPr>
                      <a:r>
                        <a:rPr lang="en-IN" sz="1400" dirty="0">
                          <a:effectLst/>
                        </a:rPr>
                        <a:t>• REST API and GeoTIFFs on the input's own grid, for existing GIS tools.</a:t>
                      </a:r>
                      <a:br>
                        <a:rPr lang="en-IN" sz="1400" dirty="0">
                          <a:effectLst/>
                        </a:rPr>
                      </a:br>
                      <a:r>
                        <a:rPr lang="en-IN" sz="1400" dirty="0">
                          <a:effectLst/>
                        </a:rPr>
                        <a:t>• Standalone Reliability: Runs completely on-premise without cloud latency.</a:t>
                      </a:r>
                      <a:endParaRPr lang="en-IN" sz="1400" b="0" i="0" dirty="0">
                        <a:solidFill>
                          <a:srgbClr val="101010"/>
                        </a:solidFill>
                        <a:effectLst/>
                        <a:latin typeface="system-ui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28383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565392"/>
            <a:ext cx="11091672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dirty="0">
                <a:solidFill>
                  <a:srgbClr val="00B050"/>
                </a:solidFill>
                <a:latin typeface="Calibri"/>
              </a:rPr>
              <a:t>Slide 5 of 6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6CF833D-BD75-1854-75A3-267AE64FD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016" y="0"/>
            <a:ext cx="2249850" cy="1062337"/>
          </a:xfrm>
          <a:prstGeom prst="rect">
            <a:avLst/>
          </a:prstGeom>
        </p:spPr>
      </p:pic>
      <p:sp>
        <p:nvSpPr>
          <p:cNvPr id="107" name="Rectangle: Diagonal Corners Rounded 106">
            <a:extLst>
              <a:ext uri="{FF2B5EF4-FFF2-40B4-BE49-F238E27FC236}">
                <a16:creationId xmlns:a16="http://schemas.microsoft.com/office/drawing/2014/main" id="{19F36328-0BCB-174E-BBCB-E429F22CE8F6}"/>
              </a:ext>
            </a:extLst>
          </p:cNvPr>
          <p:cNvSpPr/>
          <p:nvPr/>
        </p:nvSpPr>
        <p:spPr>
          <a:xfrm>
            <a:off x="241524" y="1332126"/>
            <a:ext cx="5313055" cy="4850000"/>
          </a:xfrm>
          <a:prstGeom prst="round2Diag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Oval 31" descr="Your startup LOGO">
            <a:extLst>
              <a:ext uri="{FF2B5EF4-FFF2-40B4-BE49-F238E27FC236}">
                <a16:creationId xmlns:a16="http://schemas.microsoft.com/office/drawing/2014/main" id="{594C738E-D3BD-F71D-F65D-0ECDAB60D1D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7861" y="6181"/>
            <a:ext cx="1455662" cy="65637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Meridian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A7EA0B-7E40-7DC4-1516-8BE8AFF64F78}"/>
              </a:ext>
            </a:extLst>
          </p:cNvPr>
          <p:cNvSpPr txBox="1"/>
          <p:nvPr/>
        </p:nvSpPr>
        <p:spPr>
          <a:xfrm>
            <a:off x="4220004" y="100281"/>
            <a:ext cx="285680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200" b="1" dirty="0"/>
              <a:t>IMPACT AND BENEFITS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B0F368A-F0A0-E03C-994C-8755D9B7E922}"/>
              </a:ext>
            </a:extLst>
          </p:cNvPr>
          <p:cNvSpPr txBox="1"/>
          <p:nvPr/>
        </p:nvSpPr>
        <p:spPr>
          <a:xfrm>
            <a:off x="329755" y="1451811"/>
            <a:ext cx="522482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Operational Impact:</a:t>
            </a:r>
          </a:p>
          <a:p>
            <a:endParaRPr lang="en-IN" sz="1600" b="1" dirty="0"/>
          </a:p>
          <a:p>
            <a:pPr lvl="0" algn="just"/>
            <a:r>
              <a:rPr lang="en-IN" sz="1600" b="1" dirty="0"/>
              <a:t>NTRO Intelligence</a:t>
            </a:r>
            <a:r>
              <a:rPr lang="en-IN" sz="1600" dirty="0"/>
              <a:t>  </a:t>
            </a:r>
          </a:p>
          <a:p>
            <a:pPr marL="285750" lvl="0" indent="-285750" algn="just">
              <a:buFontTx/>
              <a:buChar char="-"/>
            </a:pPr>
            <a:r>
              <a:rPr lang="en-IN" sz="1600" dirty="0" b="0"/>
              <a:t>Sharper 2.5 m views from free 10 m imagery, doubt marked.</a:t>
            </a:r>
          </a:p>
          <a:p>
            <a:pPr lvl="0" algn="just"/>
            <a:endParaRPr lang="en-IN" sz="1600" dirty="0"/>
          </a:p>
          <a:p>
            <a:pPr lvl="0" algn="just"/>
            <a:r>
              <a:rPr lang="en-IN" sz="1600" b="1" dirty="0"/>
              <a:t>Crop Monitoring</a:t>
            </a:r>
            <a:r>
              <a:rPr lang="en-IN" sz="1600" dirty="0" b="0"/>
              <a:t> </a:t>
            </a:r>
          </a:p>
          <a:p>
            <a:pPr marL="285750" lvl="0" indent="-285750" algn="just">
              <a:buFontTx/>
              <a:buChar char="-"/>
            </a:pPr>
            <a:r>
              <a:rPr lang="en-IN" sz="1600" dirty="0" b="0"/>
              <a:t>Field-scale NDVI; error against the aerial reference 0.026, bicubic 0.027.</a:t>
            </a:r>
          </a:p>
          <a:p>
            <a:pPr lvl="0" algn="just"/>
            <a:endParaRPr lang="en-IN" sz="1600" dirty="0"/>
          </a:p>
          <a:p>
            <a:pPr lvl="0" algn="just"/>
            <a:r>
              <a:rPr lang="en-IN" sz="1600" b="1" dirty="0"/>
              <a:t>Urban Analysis</a:t>
            </a:r>
            <a:r>
              <a:rPr lang="en-IN" sz="1600" dirty="0" b="0"/>
              <a:t> </a:t>
            </a:r>
          </a:p>
          <a:p>
            <a:pPr marL="285750" lvl="0" indent="-285750" algn="just">
              <a:buFontTx/>
              <a:buChar char="-"/>
            </a:pPr>
            <a:r>
              <a:rPr lang="en-IN" sz="1600" dirty="0" b="0"/>
              <a:t>Edge F1 0.45 against 0.41 for bicubic: buildings and roads are crisper.</a:t>
            </a:r>
          </a:p>
          <a:p>
            <a:pPr lvl="0" algn="just"/>
            <a:endParaRPr lang="en-IN" sz="1600" dirty="0"/>
          </a:p>
          <a:p>
            <a:pPr lvl="0" algn="just"/>
            <a:r>
              <a:rPr lang="en-IN" sz="1600" b="1" dirty="0"/>
              <a:t>Disaster Assessment (NDMA)</a:t>
            </a:r>
            <a:endParaRPr lang="en-IN" sz="1600" dirty="0"/>
          </a:p>
          <a:p>
            <a:pPr lvl="0" algn="just"/>
            <a:r>
              <a:rPr lang="en-IN" sz="1600" dirty="0" b="0"/>
              <a:t>-    </a:t>
            </a:r>
            <a:r>
              <a:rPr lang="en-IN" sz="1600" dirty="0" b="0"/>
              <a:t>Water-edge overlap 0.84 against 0.81 for bicubic, for flood and shoreline mapping.</a:t>
            </a:r>
          </a:p>
        </p:txBody>
      </p:sp>
      <p:sp>
        <p:nvSpPr>
          <p:cNvPr id="106" name="Rectangle: Diagonal Corners Rounded 105">
            <a:extLst>
              <a:ext uri="{FF2B5EF4-FFF2-40B4-BE49-F238E27FC236}">
                <a16:creationId xmlns:a16="http://schemas.microsoft.com/office/drawing/2014/main" id="{51B7CE70-7995-0AD4-D0C6-F7A3ECD0A6F2}"/>
              </a:ext>
            </a:extLst>
          </p:cNvPr>
          <p:cNvSpPr/>
          <p:nvPr/>
        </p:nvSpPr>
        <p:spPr>
          <a:xfrm>
            <a:off x="6264442" y="838361"/>
            <a:ext cx="3842084" cy="5719010"/>
          </a:xfrm>
          <a:prstGeom prst="round2Diag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A40B88E-20C2-1C20-FCCD-9C0295693F1F}"/>
              </a:ext>
            </a:extLst>
          </p:cNvPr>
          <p:cNvSpPr txBox="1"/>
          <p:nvPr/>
        </p:nvSpPr>
        <p:spPr>
          <a:xfrm>
            <a:off x="6468177" y="1148753"/>
            <a:ext cx="3566160" cy="1308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rPr sz="1600" dirty="0" b="0"/>
              <a:t>• Environmental Value</a:t>
            </a:r>
          </a:p>
          <a:p>
            <a:pPr algn="just"/>
            <a:r>
              <a:rPr lang="en-IN" sz="1600" b="1" dirty="0">
                <a:solidFill>
                  <a:srgbClr val="0A2540"/>
                </a:solidFill>
                <a:latin typeface="Calibri"/>
              </a:rPr>
              <a:t> - </a:t>
            </a:r>
            <a:r>
              <a:rPr lang="en-IN" sz="1600" b="1" dirty="0">
                <a:solidFill>
                  <a:srgbClr val="0A2540"/>
                </a:solidFill>
                <a:latin typeface="Calibri"/>
              </a:rPr>
              <a:t>Crop Stress: </a:t>
            </a:r>
            <a:r>
              <a:rPr sz="1600" dirty="0" b="0">
                <a:solidFill>
                  <a:srgbClr val="1E293B"/>
                </a:solidFill>
                <a:latin typeface="Calibri"/>
              </a:rPr>
              <a:t>Spots field</a:t>
            </a:r>
            <a:endParaRPr lang="en-IN" sz="1600" dirty="0">
              <a:solidFill>
                <a:srgbClr val="1E293B"/>
              </a:solidFill>
              <a:latin typeface="Calibri"/>
            </a:endParaRPr>
          </a:p>
          <a:p>
            <a:pPr algn="just"/>
            <a:r>
              <a:rPr lang="en-IN" sz="1600" dirty="0" b="0">
                <a:solidFill>
                  <a:srgbClr val="1E293B"/>
                </a:solidFill>
                <a:latin typeface="Calibri"/>
              </a:rPr>
              <a:t>   </a:t>
            </a:r>
            <a:r>
              <a:rPr lang="en-IN" sz="1600" dirty="0" b="0">
                <a:solidFill>
                  <a:srgbClr val="1E293B"/>
                </a:solidFill>
                <a:latin typeface="Calibri"/>
              </a:rPr>
              <a:t>level change early.</a:t>
            </a:r>
          </a:p>
          <a:p>
            <a:pPr algn="just"/>
            <a:r>
              <a:rPr lang="en-IN" sz="1600" b="1" dirty="0">
                <a:solidFill>
                  <a:srgbClr val="0A2540"/>
                </a:solidFill>
                <a:latin typeface="Calibri"/>
              </a:rPr>
              <a:t> - </a:t>
            </a:r>
            <a:r>
              <a:rPr lang="en-IN" sz="1600" b="1" dirty="0">
                <a:solidFill>
                  <a:srgbClr val="0A2540"/>
                </a:solidFill>
                <a:latin typeface="Calibri"/>
              </a:rPr>
              <a:t>Water Extent: </a:t>
            </a:r>
            <a:r>
              <a:rPr sz="1600" dirty="0" b="0">
                <a:solidFill>
                  <a:srgbClr val="1E293B"/>
                </a:solidFill>
                <a:latin typeface="Calibri"/>
              </a:rPr>
              <a:t>Tracks floods and</a:t>
            </a:r>
            <a:endParaRPr lang="en-IN" sz="1600" dirty="0">
              <a:solidFill>
                <a:srgbClr val="1E293B"/>
              </a:solidFill>
              <a:latin typeface="Calibri"/>
            </a:endParaRPr>
          </a:p>
          <a:p>
            <a:pPr algn="just"/>
            <a:r>
              <a:rPr lang="en-IN" sz="1600" dirty="0" b="0">
                <a:solidFill>
                  <a:srgbClr val="1E293B"/>
                </a:solidFill>
                <a:latin typeface="Calibri"/>
              </a:rPr>
              <a:t>   </a:t>
            </a:r>
            <a:r>
              <a:rPr lang="en-IN" sz="1600" dirty="0" b="0">
                <a:solidFill>
                  <a:srgbClr val="1E293B"/>
                </a:solidFill>
                <a:latin typeface="Calibri"/>
              </a:rPr>
              <a:t>shrinking wetlands.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1958CE6-EFFB-0E51-AC50-797EAFB11CA1}"/>
              </a:ext>
            </a:extLst>
          </p:cNvPr>
          <p:cNvSpPr txBox="1"/>
          <p:nvPr/>
        </p:nvSpPr>
        <p:spPr>
          <a:xfrm>
            <a:off x="6468177" y="3067467"/>
            <a:ext cx="3566160" cy="1308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rPr sz="1600" dirty="0" b="0"/>
              <a:t>• Economic &amp; Resource ROI</a:t>
            </a:r>
          </a:p>
          <a:p>
            <a:pPr algn="just"/>
            <a:r>
              <a:rPr lang="en-IN" sz="1600" b="1" dirty="0">
                <a:solidFill>
                  <a:srgbClr val="0A2540"/>
                </a:solidFill>
                <a:latin typeface="Calibri"/>
              </a:rPr>
              <a:t> - </a:t>
            </a:r>
            <a:r>
              <a:rPr lang="en-IN" sz="1600" b="1" dirty="0">
                <a:solidFill>
                  <a:srgbClr val="0A2540"/>
                </a:solidFill>
                <a:latin typeface="Calibri"/>
              </a:rPr>
              <a:t>No Imagery Fees: </a:t>
            </a:r>
            <a:r>
              <a:rPr sz="1600" dirty="0" b="0">
                <a:solidFill>
                  <a:srgbClr val="1E293B"/>
                </a:solidFill>
                <a:latin typeface="Calibri"/>
              </a:rPr>
              <a:t>Works on free</a:t>
            </a:r>
            <a:endParaRPr lang="en-IN" sz="1600" dirty="0">
              <a:solidFill>
                <a:srgbClr val="1E293B"/>
              </a:solidFill>
              <a:latin typeface="Calibri"/>
            </a:endParaRPr>
          </a:p>
          <a:p>
            <a:pPr algn="just"/>
            <a:r>
              <a:rPr lang="en-IN" sz="1600" dirty="0" b="0">
                <a:solidFill>
                  <a:srgbClr val="1E293B"/>
                </a:solidFill>
                <a:latin typeface="Calibri"/>
              </a:rPr>
              <a:t>   </a:t>
            </a:r>
            <a:r>
              <a:rPr lang="en-IN" sz="1600" dirty="0" b="0">
                <a:solidFill>
                  <a:srgbClr val="1E293B"/>
                </a:solidFill>
                <a:latin typeface="Calibri"/>
              </a:rPr>
              <a:t>Sentinel-2 data.</a:t>
            </a:r>
          </a:p>
          <a:p>
            <a:pPr algn="just"/>
            <a:r>
              <a:rPr lang="en-IN" sz="1600" b="1" dirty="0">
                <a:solidFill>
                  <a:srgbClr val="0A2540"/>
                </a:solidFill>
                <a:latin typeface="Calibri"/>
              </a:rPr>
              <a:t> - </a:t>
            </a:r>
            <a:r>
              <a:rPr lang="en-IN" sz="1600" b="1" dirty="0">
                <a:solidFill>
                  <a:srgbClr val="0A2540"/>
                </a:solidFill>
                <a:latin typeface="Calibri"/>
              </a:rPr>
              <a:t>Better Triage: </a:t>
            </a:r>
            <a:r>
              <a:rPr sz="1600" dirty="0" b="0">
                <a:solidFill>
                  <a:srgbClr val="1E293B"/>
                </a:solidFill>
                <a:latin typeface="Calibri"/>
              </a:rPr>
              <a:t>Aims costly high-</a:t>
            </a:r>
          </a:p>
          <a:p>
            <a:pPr algn="just"/>
            <a:r>
              <a:rPr lang="en-IN" sz="1600" dirty="0" b="0">
                <a:solidFill>
                  <a:srgbClr val="1E293B"/>
                </a:solidFill>
                <a:latin typeface="Calibri"/>
              </a:rPr>
              <a:t>   </a:t>
            </a:r>
            <a:r>
              <a:rPr lang="en-IN" sz="1600" dirty="0" b="0">
                <a:solidFill>
                  <a:srgbClr val="1E293B"/>
                </a:solidFill>
                <a:latin typeface="Calibri"/>
              </a:rPr>
              <a:t>resolution tasking.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3E8EE80-6611-825E-0CBA-B2E889569FD1}"/>
              </a:ext>
            </a:extLst>
          </p:cNvPr>
          <p:cNvSpPr txBox="1"/>
          <p:nvPr/>
        </p:nvSpPr>
        <p:spPr>
          <a:xfrm>
            <a:off x="6468177" y="4793269"/>
            <a:ext cx="3566160" cy="1308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spcAft>
                <a:spcPts val="600"/>
              </a:spcAft>
              <a:defRPr sz="1150" b="1">
                <a:solidFill>
                  <a:srgbClr val="0A2540"/>
                </a:solidFill>
                <a:latin typeface="Trebuchet MS"/>
              </a:defRPr>
            </a:pPr>
            <a:r>
              <a:rPr sz="1600" dirty="0" b="0"/>
              <a:t>• Social &amp; Planning Value</a:t>
            </a:r>
          </a:p>
          <a:p>
            <a:pPr algn="just"/>
            <a:r>
              <a:rPr lang="en-IN" sz="1600" b="1" dirty="0">
                <a:solidFill>
                  <a:srgbClr val="0A2540"/>
                </a:solidFill>
                <a:latin typeface="Calibri"/>
              </a:rPr>
              <a:t> - </a:t>
            </a:r>
            <a:r>
              <a:rPr lang="en-IN" sz="1600" b="1" dirty="0">
                <a:solidFill>
                  <a:srgbClr val="0A2540"/>
                </a:solidFill>
                <a:latin typeface="Calibri"/>
              </a:rPr>
              <a:t>Disaster Response: </a:t>
            </a:r>
            <a:r>
              <a:rPr sz="1600" dirty="0" b="0">
                <a:solidFill>
                  <a:srgbClr val="1E293B"/>
                </a:solidFill>
                <a:latin typeface="Calibri"/>
              </a:rPr>
              <a:t>Faster, sharper</a:t>
            </a:r>
          </a:p>
          <a:p>
            <a:pPr algn="just"/>
            <a:r>
              <a:rPr lang="en-IN" sz="1600" dirty="0" b="0">
                <a:solidFill>
                  <a:srgbClr val="1E293B"/>
                </a:solidFill>
                <a:latin typeface="Calibri"/>
              </a:rPr>
              <a:t>   </a:t>
            </a:r>
            <a:r>
              <a:rPr lang="en-IN" sz="1600" dirty="0" b="0">
                <a:solidFill>
                  <a:srgbClr val="1E293B"/>
                </a:solidFill>
                <a:latin typeface="Calibri"/>
              </a:rPr>
              <a:t>flood and damage maps.</a:t>
            </a:r>
          </a:p>
          <a:p>
            <a:pPr algn="just"/>
            <a:r>
              <a:rPr lang="en-IN" sz="1600" b="1" dirty="0">
                <a:solidFill>
                  <a:srgbClr val="0A2540"/>
                </a:solidFill>
                <a:latin typeface="Calibri"/>
              </a:rPr>
              <a:t> - </a:t>
            </a:r>
            <a:r>
              <a:rPr lang="en-IN" sz="1600" b="1" dirty="0">
                <a:solidFill>
                  <a:srgbClr val="0A2540"/>
                </a:solidFill>
                <a:latin typeface="Calibri"/>
              </a:rPr>
              <a:t>Local Planning: </a:t>
            </a:r>
            <a:r>
              <a:rPr sz="1600" dirty="0" b="0">
                <a:solidFill>
                  <a:srgbClr val="1E293B"/>
                </a:solidFill>
                <a:latin typeface="Calibri"/>
              </a:rPr>
              <a:t>Street-level views</a:t>
            </a:r>
          </a:p>
          <a:p>
            <a:pPr algn="just"/>
            <a:r>
              <a:rPr lang="en-IN" sz="1600" dirty="0" b="0">
                <a:solidFill>
                  <a:srgbClr val="1E293B"/>
                </a:solidFill>
                <a:latin typeface="Calibri"/>
              </a:rPr>
              <a:t>   </a:t>
            </a:r>
            <a:r>
              <a:rPr lang="en-IN" sz="1600" dirty="0" b="0">
                <a:solidFill>
                  <a:srgbClr val="1E293B"/>
                </a:solidFill>
                <a:latin typeface="Calibri"/>
              </a:rPr>
              <a:t>of growing towns.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565392"/>
            <a:ext cx="11091672" cy="1308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dirty="0">
                <a:solidFill>
                  <a:srgbClr val="00B050"/>
                </a:solidFill>
                <a:latin typeface="Calibri"/>
              </a:rPr>
              <a:t>Slide 6 of 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B92C6A2-EF47-7907-0A4C-A2F10CF0E5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008" y="35759"/>
            <a:ext cx="2249850" cy="1062337"/>
          </a:xfrm>
          <a:prstGeom prst="rect">
            <a:avLst/>
          </a:prstGeom>
        </p:spPr>
      </p:pic>
      <p:sp>
        <p:nvSpPr>
          <p:cNvPr id="6" name="Oval 5" descr="Your startup LOGO">
            <a:extLst>
              <a:ext uri="{FF2B5EF4-FFF2-40B4-BE49-F238E27FC236}">
                <a16:creationId xmlns:a16="http://schemas.microsoft.com/office/drawing/2014/main" id="{4B18C4CD-1F16-EDF3-5C20-5B0160FDC3A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7861" y="6181"/>
            <a:ext cx="1455662" cy="65637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Meridian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AEC053-07FF-1AF2-66EB-48D31F0D1742}"/>
              </a:ext>
            </a:extLst>
          </p:cNvPr>
          <p:cNvSpPr txBox="1"/>
          <p:nvPr/>
        </p:nvSpPr>
        <p:spPr>
          <a:xfrm>
            <a:off x="3825793" y="277830"/>
            <a:ext cx="83662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RESEARCH AND REFERENCES</a:t>
            </a:r>
          </a:p>
          <a:p>
            <a:endParaRPr lang="en-IN" sz="2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75DA46-3EBE-4EE8-DAD4-FEE78E819BD7}"/>
              </a:ext>
            </a:extLst>
          </p:cNvPr>
          <p:cNvSpPr txBox="1"/>
          <p:nvPr/>
        </p:nvSpPr>
        <p:spPr>
          <a:xfrm>
            <a:off x="588023" y="1000000"/>
            <a:ext cx="11012906" cy="4685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>
              <a:lnSpc>
                <a:spcPct val="200000"/>
              </a:lnSpc>
            </a:pPr>
            <a:r>
              <a:rPr lang="en-IN" b="1" i="0" dirty="0">
                <a:solidFill>
                  <a:schemeClr val="tx1"/>
                </a:solidFill>
                <a:effectLst/>
                <a:latin typeface="+mn-lt"/>
              </a:rPr>
              <a:t>1. </a:t>
            </a: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Dong et al. (2016), SRCNN, IEEE TPAMI · </a:t>
            </a:r>
            <a:r>
              <a:rPr lang="en-IN" b="0" i="0" dirty="0">
                <a:solidFill>
                  <a:schemeClr val="tx1"/>
                </a:solidFill>
                <a:effectLst/>
                <a:latin typeface="+mn-lt"/>
                <a:hlinkClick r:id="rId22"/>
              </a:rPr>
              <a:t>arXiv:1501.00092</a:t>
            </a: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 | </a:t>
            </a:r>
            <a:r>
              <a:rPr lang="en-IN" b="0" i="0" dirty="0">
                <a:solidFill>
                  <a:schemeClr val="tx1"/>
                </a:solidFill>
                <a:effectLst/>
                <a:latin typeface="+mn-lt"/>
                <a:hlinkClick r:id="rId23"/>
              </a:rPr>
              <a:t>IEEE Xplore</a:t>
            </a:r>
            <a:endParaRPr lang="en-IN" b="0" i="0" dirty="0">
              <a:solidFill>
                <a:schemeClr val="tx1"/>
              </a:solidFill>
              <a:effectLst/>
              <a:latin typeface="+mn-lt"/>
            </a:endParaRPr>
          </a:p>
          <a:p>
            <a:pPr marR="0" lvl="0" algn="l">
              <a:lnSpc>
                <a:spcPct val="200000"/>
              </a:lnSpc>
            </a:pPr>
            <a:r>
              <a:rPr lang="en-IN" b="1" i="0" dirty="0">
                <a:solidFill>
                  <a:schemeClr val="tx1"/>
                </a:solidFill>
                <a:effectLst/>
                <a:latin typeface="+mn-lt"/>
              </a:rPr>
              <a:t>2. </a:t>
            </a: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Lim et al. (2017), EDSR, CVPR Workshops · </a:t>
            </a:r>
            <a:r>
              <a:rPr lang="en-IN" b="0" i="0" dirty="0">
                <a:solidFill>
                  <a:schemeClr val="tx1"/>
                </a:solidFill>
                <a:effectLst/>
                <a:latin typeface="+mn-lt"/>
                <a:hlinkClick r:id="rId24"/>
              </a:rPr>
              <a:t>arXiv:1707.02921</a:t>
            </a:r>
            <a:endParaRPr lang="en-IN" b="0" i="0" dirty="0">
              <a:solidFill>
                <a:schemeClr val="tx1"/>
              </a:solidFill>
              <a:effectLst/>
              <a:latin typeface="+mn-lt"/>
            </a:endParaRPr>
          </a:p>
          <a:p>
            <a:pPr marR="0" lvl="0" algn="l">
              <a:lnSpc>
                <a:spcPct val="200000"/>
              </a:lnSpc>
            </a:pPr>
            <a:r>
              <a:rPr lang="en-IN" b="1" i="0" dirty="0">
                <a:solidFill>
                  <a:schemeClr val="tx1"/>
                </a:solidFill>
                <a:effectLst/>
                <a:latin typeface="+mn-lt"/>
              </a:rPr>
              <a:t>3. </a:t>
            </a: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Wang et al. (2018), ESRGAN, ECCV Workshops · </a:t>
            </a:r>
            <a:r>
              <a:rPr lang="en-IN" b="0" i="0" dirty="0">
                <a:solidFill>
                  <a:schemeClr val="tx1"/>
                </a:solidFill>
                <a:effectLst/>
                <a:latin typeface="+mn-lt"/>
                <a:hlinkClick r:id="rId25"/>
              </a:rPr>
              <a:t>arXiv:1809.00219</a:t>
            </a:r>
            <a:endParaRPr lang="en-IN" b="0" i="0" dirty="0">
              <a:solidFill>
                <a:schemeClr val="tx1"/>
              </a:solidFill>
              <a:effectLst/>
              <a:latin typeface="+mn-lt"/>
            </a:endParaRPr>
          </a:p>
          <a:p>
            <a:pPr marR="0" lvl="0" algn="l">
              <a:lnSpc>
                <a:spcPct val="200000"/>
              </a:lnSpc>
            </a:pPr>
            <a:r>
              <a:rPr lang="en-IN" b="1" i="0" dirty="0">
                <a:solidFill>
                  <a:schemeClr val="tx1"/>
                </a:solidFill>
                <a:effectLst/>
                <a:latin typeface="+mn-lt"/>
              </a:rPr>
              <a:t>4. </a:t>
            </a:r>
            <a:r>
              <a:rPr lang="en-IN" b="0" i="0" dirty="0">
                <a:solidFill>
                  <a:schemeClr val="tx1"/>
                </a:solidFill>
                <a:effectLst/>
                <a:latin typeface="+mn-lt"/>
              </a:rPr>
              <a:t>Liang et al. (2021), SwinIR, ICCV Workshops · </a:t>
            </a:r>
            <a:r>
              <a:rPr lang="en-IN" b="0" i="0" dirty="0">
                <a:solidFill>
                  <a:schemeClr val="tx1"/>
                </a:solidFill>
                <a:effectLst/>
                <a:latin typeface="+mn-lt"/>
                <a:hlinkClick r:id="rId26"/>
              </a:rPr>
              <a:t>arXiv:2108.10257</a:t>
            </a:r>
            <a:endParaRPr lang="en-IN" b="0" i="0" dirty="0">
              <a:solidFill>
                <a:schemeClr val="tx1"/>
              </a:solidFill>
              <a:effectLst/>
              <a:latin typeface="+mn-lt"/>
            </a:endParaRPr>
          </a:p>
          <a:p>
            <a:pPr lvl="0">
              <a:lnSpc>
                <a:spcPct val="200000"/>
              </a:lnSpc>
            </a:pPr>
            <a:r>
              <a:rPr lang="en-IN" b="1" dirty="0"/>
              <a:t>5. </a:t>
            </a:r>
            <a:r>
              <a:rPr lang="en-IN" dirty="0" err="1" b="0"/>
              <a:t>Lanaras et al. (2018), DSen2, ISPRS J. Photogramm. Remote Sens. 146 · </a:t>
            </a:r>
            <a:r>
              <a:rPr lang="en-IN" dirty="0" err="1" b="0">
                <a:hlinkClick r:id="rId27"/>
              </a:rPr>
              <a:t>arXiv:1803.04271</a:t>
            </a:r>
            <a:r>
              <a:rPr lang="en-IN" dirty="0" err="1" b="0"/>
              <a:t> | </a:t>
            </a:r>
            <a:r>
              <a:rPr lang="en-IN" dirty="0" err="1" b="0">
                <a:hlinkClick r:id="rId28"/>
              </a:rPr>
              <a:t>DOI</a:t>
            </a:r>
            <a:endParaRPr lang="en-IN" dirty="0"/>
          </a:p>
          <a:p>
            <a:pPr lvl="0">
              <a:lnSpc>
                <a:spcPct val="200000"/>
              </a:lnSpc>
            </a:pPr>
            <a:r>
              <a:rPr lang="en-IN" b="1" dirty="0"/>
              <a:t>6. </a:t>
            </a:r>
            <a:r>
              <a:rPr lang="en-IN" dirty="0" b="0"/>
              <a:t>Cornebise et al. (2022), WorldStrat, NeurIPS Datasets and Benchmarks · </a:t>
            </a:r>
            <a:r>
              <a:rPr lang="en-IN" dirty="0" b="0">
                <a:hlinkClick r:id="rId29"/>
              </a:rPr>
              <a:t>arXiv:2207.06418</a:t>
            </a:r>
            <a:endParaRPr lang="en-IN" dirty="0"/>
          </a:p>
          <a:p>
            <a:pPr lvl="0">
              <a:lnSpc>
                <a:spcPct val="200000"/>
              </a:lnSpc>
            </a:pPr>
            <a:r>
              <a:rPr lang="en-IN" b="1" dirty="0"/>
              <a:t>7. </a:t>
            </a:r>
            <a:r>
              <a:rPr lang="en-IN" dirty="0" err="1" b="0"/>
              <a:t>Michel et al. (2022), SEN2VENuS dataset, Data 7(7), 96 · </a:t>
            </a:r>
            <a:r>
              <a:rPr lang="en-IN" dirty="0" err="1" b="0">
                <a:hlinkClick r:id="rId30"/>
              </a:rPr>
              <a:t>DOI</a:t>
            </a:r>
            <a:endParaRPr lang="en-IN" dirty="0"/>
          </a:p>
          <a:p>
            <a:pPr lvl="0">
              <a:lnSpc>
                <a:spcPct val="200000"/>
              </a:lnSpc>
            </a:pPr>
            <a:r>
              <a:rPr lang="en-IN" b="1" dirty="0"/>
              <a:t>8. </a:t>
            </a:r>
            <a:r>
              <a:rPr lang="en-IN" dirty="0" b="0"/>
              <a:t>Wald, Ranchin and Mangolini (1997), Fusion of satellite images of different spatial resolutions, PE&amp;RS 63(6)</a:t>
            </a:r>
            <a:endParaRPr lang="en-IN" dirty="0"/>
          </a:p>
          <a:p>
            <a:pPr lvl="0">
              <a:lnSpc>
                <a:spcPct val="200000"/>
              </a:lnSpc>
            </a:pPr>
            <a:r>
              <a:rPr lang="en-IN" b="1" dirty="0"/>
              <a:t>9. </a:t>
            </a:r>
            <a:r>
              <a:rPr lang="en-IN" dirty="0" b="0"/>
              <a:t>Kendall and Gal (2017), Uncertainties in Bayesian deep learning, NeurIPS · </a:t>
            </a:r>
            <a:r>
              <a:rPr lang="en-IN" dirty="0" b="0">
                <a:hlinkClick r:id="rId31"/>
              </a:rPr>
              <a:t>arXiv:1703.04977</a:t>
            </a:r>
            <a:endParaRPr lang="en-IN" dirty="0"/>
          </a:p>
          <a:p>
            <a:pPr lvl="0">
              <a:lnSpc>
                <a:spcPct val="200000"/>
              </a:lnSpc>
            </a:pPr>
            <a:r>
              <a:rPr lang="en-IN" b="1" dirty="0"/>
              <a:t>10. </a:t>
            </a:r>
            <a:r>
              <a:rPr lang="en-IN" dirty="0" b="0"/>
              <a:t>Data: ESA Sentinel-2 L2A · </a:t>
            </a:r>
            <a:r>
              <a:rPr lang="en-IN" dirty="0" b="0">
                <a:hlinkClick r:id="rId32"/>
              </a:rPr>
              <a:t>Copernicus Data Space</a:t>
            </a:r>
            <a:r>
              <a:rPr lang="en-IN" dirty="0" b="0"/>
              <a:t> | </a:t>
            </a:r>
            <a:r>
              <a:rPr lang="en-IN" dirty="0" b="0">
                <a:hlinkClick r:id="rId33"/>
              </a:rPr>
              <a:t>Planetary Computer</a:t>
            </a:r>
            <a:r>
              <a:rPr lang="en-IN" dirty="0" b="0"/>
              <a:t> | </a:t>
            </a:r>
            <a:r>
              <a:rPr lang="en-IN" dirty="0" b="0">
                <a:hlinkClick r:id="rId34"/>
              </a:rPr>
              <a:t>USDA NAIP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983</Words>
  <Application>Microsoft Office PowerPoint</Application>
  <PresentationFormat>Widescreen</PresentationFormat>
  <Paragraphs>98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Cambria Math</vt:lpstr>
      <vt:lpstr>Garamond</vt:lpstr>
      <vt:lpstr>system-ui</vt:lpstr>
      <vt:lpstr>Times New Roman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Siddhant</dc:creator>
  <cp:keywords/>
  <dc:description>generated using python-pptx</dc:description>
  <cp:lastModifiedBy>Siddhant Mishra</cp:lastModifiedBy>
  <cp:revision>37</cp:revision>
  <dcterms:created xsi:type="dcterms:W3CDTF">2013-01-27T09:14:16Z</dcterms:created>
  <dcterms:modified xsi:type="dcterms:W3CDTF">2026-09-29T13:24:13Z</dcterms:modified>
  <cp:category/>
</cp:coreProperties>
</file>