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1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SMART INDIA HACKATHON 2026 · TITLE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TideTrace: Satellite SAR Oil Spill Detection &amp; Forensic AIS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An automated intelligence pipeline for satellite slick segmentation, 2D Lagrangian drift hindcasting, and vessel correlation.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• Problem Statement ID: </a:t>
            </a:r>
            <a:r>
              <a:rPr b="1" sz="1050">
                <a:solidFill>
                  <a:srgbClr val="0A2540"/>
                </a:solidFill>
              </a:rPr>
              <a:t>26143</a:t>
            </a:r>
          </a:p>
          <a:p>
            <a:r>
              <a:rPr b="1" sz="1000">
                <a:solidFill>
                  <a:srgbClr val="0284C7"/>
                </a:solidFill>
              </a:rPr>
              <a:t>• Problem Statement Title: </a:t>
            </a:r>
            <a:r>
              <a:rPr sz="950">
                <a:solidFill>
                  <a:srgbClr val="1E293B"/>
                </a:solidFill>
              </a:rPr>
              <a:t>Leveraging satellite imagery to determine Oil spills at sea along with AIS data correlations to identify vessel responsible for the spill.</a:t>
            </a:r>
          </a:p>
          <a:p>
            <a:r>
              <a:rPr b="1" sz="1000">
                <a:solidFill>
                  <a:srgbClr val="0284C7"/>
                </a:solidFill>
              </a:rPr>
              <a:t>• Organization &amp; Dept: </a:t>
            </a:r>
            <a:r>
              <a:rPr sz="950">
                <a:solidFill>
                  <a:srgbClr val="1E293B"/>
                </a:solidFill>
              </a:rPr>
              <a:t>National Technical Research Organisation (NTRO)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50876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000">
                <a:solidFill>
                  <a:srgbClr val="0284C7"/>
                </a:solidFill>
              </a:rPr>
              <a:t>• Theme: </a:t>
            </a:r>
            <a:r>
              <a:rPr sz="950">
                <a:solidFill>
                  <a:srgbClr val="1E293B"/>
                </a:solidFill>
              </a:rPr>
              <a:t>Disaster Management / Space Technology</a:t>
            </a:r>
          </a:p>
          <a:p>
            <a:r>
              <a:rPr b="1" sz="1000">
                <a:solidFill>
                  <a:srgbClr val="0284C7"/>
                </a:solidFill>
              </a:rPr>
              <a:t>• PS Category: </a:t>
            </a:r>
            <a:r>
              <a:rPr b="1" sz="950">
                <a:solidFill>
                  <a:srgbClr val="0A2540"/>
                </a:solidFill>
              </a:rPr>
              <a:t>Software</a:t>
            </a:r>
          </a:p>
          <a:p>
            <a:r>
              <a:rPr b="1" sz="1000">
                <a:solidFill>
                  <a:srgbClr val="0284C7"/>
                </a:solidFill>
              </a:rPr>
              <a:t>• Team ID &amp; Name: </a:t>
            </a:r>
            <a:r>
              <a:rPr sz="950">
                <a:solidFill>
                  <a:srgbClr val="1E293B"/>
                </a:solidFill>
              </a:rPr>
              <a:t>[Your Team ID]  |  [Your Team Name] (Registered on portal)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3520440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Clause (a): SAR Detection &amp; Morphology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32461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Sentinel-1 C-Band Dual-Pol: </a:t>
            </a:r>
            <a:r>
              <a:rPr sz="880">
                <a:solidFill>
                  <a:srgbClr val="1E293B"/>
                </a:solidFill>
                <a:latin typeface="Calibri"/>
              </a:rPr>
              <a:t>Ingests 2048x2048 VV/VH backscatter GeoTIFFs, standardizing capillary wave damping.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Deep Learning UNet++: </a:t>
            </a:r>
            <a:r>
              <a:rPr sz="880">
                <a:solidFill>
                  <a:srgbClr val="1E293B"/>
                </a:solidFill>
                <a:latin typeface="Calibri"/>
              </a:rPr>
              <a:t>Trained on Zenodo benchmark (1,164 tiles) with timm-efficientnet-b0; achieves 0.8891 IoU.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Look-Alike &amp; Water Gate: </a:t>
            </a:r>
            <a:r>
              <a:rPr sz="880">
                <a:solidFill>
                  <a:srgbClr val="1E293B"/>
                </a:solidFill>
                <a:latin typeface="Calibri"/>
              </a:rPr>
              <a:t>Multi-class discrimination rejects biogenic films. Strict &lt;3.0 dB floor flags clean water with 0 false slicks.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Geodetic Telemetry: </a:t>
            </a:r>
            <a:r>
              <a:rPr sz="880">
                <a:solidFill>
                  <a:srgbClr val="1E293B"/>
                </a:solidFill>
                <a:latin typeface="Calibri"/>
              </a:rPr>
              <a:t>Local AEQD projection calculates metric area (km²), perimeter, max Feret length, and PCA orientation.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880360"/>
            <a:ext cx="3520440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2971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Clause (b): Lagrangian Drift 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3246120"/>
            <a:ext cx="32461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Metocean Vector Fusion: </a:t>
            </a:r>
            <a:r>
              <a:rPr sz="880">
                <a:solidFill>
                  <a:srgbClr val="1E293B"/>
                </a:solidFill>
                <a:latin typeface="Calibri"/>
              </a:rPr>
              <a:t>Integrates hourly ERA5 10m wind with Copernicus Marine (CMEMS) hydrodynamic surface currents.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Governing Advection: </a:t>
            </a:r>
            <a:r>
              <a:rPr sz="880">
                <a:solidFill>
                  <a:srgbClr val="1E293B"/>
                </a:solidFill>
                <a:latin typeface="Calibri"/>
              </a:rPr>
              <a:t>V = U_curr + 0.03*R(15°)*U_wind. Integrates Runge-Kutta 2nd-order (RK2) midpoint scheme (dt=1h).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50-Particle Inversion: </a:t>
            </a:r>
            <a:r>
              <a:rPr sz="880">
                <a:solidFill>
                  <a:srgbClr val="1E293B"/>
                </a:solidFill>
                <a:latin typeface="Calibri"/>
              </a:rPr>
              <a:t>Monte Carlo ensemble traces back from slick contour; frozen origin threshold triggers when spread R &gt;= 8 km.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36h Dispersion Cone: </a:t>
            </a:r>
            <a:r>
              <a:rPr sz="880">
                <a:solidFill>
                  <a:srgbClr val="1E293B"/>
                </a:solidFill>
                <a:latin typeface="Calibri"/>
              </a:rPr>
              <a:t>Forward forecast cone cross-checks Natural Earth 1:10m coastline for automated landfall threat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880360"/>
            <a:ext cx="3520440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2" y="297180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Clause (c): AIS Forensic Attribution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3246120"/>
            <a:ext cx="32461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Spatio-Temporal Funnel: </a:t>
            </a:r>
            <a:r>
              <a:rPr sz="880">
                <a:solidFill>
                  <a:srgbClr val="1E293B"/>
                </a:solidFill>
                <a:latin typeface="Calibri"/>
              </a:rPr>
              <a:t>Ingests MarineCadastre AIS into SQLite; filters traffic within radius (R_zone + 10km) and time [T_orig ± 3h].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1-Min Geodesic Track: </a:t>
            </a:r>
            <a:r>
              <a:rPr sz="880">
                <a:solidFill>
                  <a:srgbClr val="1E293B"/>
                </a:solidFill>
                <a:latin typeface="Calibri"/>
              </a:rPr>
              <a:t>Resamples vessel pings using spherical great-circle geodesics with heading unwrapping.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Multi-Factor Scoring: </a:t>
            </a:r>
            <a:r>
              <a:rPr sz="880">
                <a:solidFill>
                  <a:srgbClr val="1E293B"/>
                </a:solidFill>
                <a:latin typeface="Calibri"/>
              </a:rPr>
              <a:t>S = 0.30*prox + 0.20*time + 0.25*beh + 0.15*type + 0.10*traj. Proximity measured to origin point, not broad zone.</a:t>
            </a:r>
          </a:p>
          <a:p>
            <a:pPr>
              <a:spcAft>
                <a:spcPts val="350"/>
              </a:spcAft>
            </a:pPr>
            <a:r>
              <a:rPr b="1" sz="919">
                <a:solidFill>
                  <a:srgbClr val="0A2540"/>
                </a:solidFill>
                <a:latin typeface="Calibri"/>
              </a:rPr>
              <a:t>• Dark Vessel Detection: </a:t>
            </a:r>
            <a:r>
              <a:rPr sz="880">
                <a:solidFill>
                  <a:srgbClr val="1E293B"/>
                </a:solidFill>
                <a:latin typeface="Calibri"/>
              </a:rPr>
              <a:t>Flags AIS blackout gaps (&gt;= 30 min) passing near origin (S_beh=0.95); confidence-clamps ghost ships.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559552"/>
            <a:ext cx="26060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0.8891 IoU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Zenodo Benchmark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548640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5559552"/>
            <a:ext cx="26060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&lt; 10s Execution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High-Throughput GPU / 30s CPU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548640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1" y="5559552"/>
            <a:ext cx="26060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100% Explainable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Transparent Scored Leaderboard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548640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5128" y="5559552"/>
            <a:ext cx="2606040" cy="7132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126 Test Suites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Rigorous Test-Driven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2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PROPOSED SOLUTION (IDEA / SOLUTION / PROTOTYPE)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TideTrace: Automated Oil Spill Detection &amp; Maritime Culprit Attribution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Fusing SAR remote sensing, metocean drift physics, and historical AIS telemetry into an actionable operational console.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492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Detailed Explanation of the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50749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Automated SAR Ingestion: </a:t>
            </a:r>
            <a:r>
              <a:rPr sz="860">
                <a:solidFill>
                  <a:srgbClr val="1E293B"/>
                </a:solidFill>
              </a:rPr>
              <a:t>Directly ingests Sentinel-1 C-band SAR dual-pol (VV/VH) GeoTIFFs, sensing capillary wave damping day/night and through monsoon clouds.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Deep Learning UNet++: </a:t>
            </a:r>
            <a:r>
              <a:rPr sz="860">
                <a:solidFill>
                  <a:srgbClr val="1E293B"/>
                </a:solidFill>
              </a:rPr>
              <a:t>Segments oil slicks from look-alikes with 0.8891 IoU; calculates local AEQD geodetic area, perimeter, and PCA orientation.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Lagrangian Drift Inversion: </a:t>
            </a:r>
            <a:r>
              <a:rPr sz="860">
                <a:solidFill>
                  <a:srgbClr val="1E293B"/>
                </a:solidFill>
              </a:rPr>
              <a:t>Couples ERA5 wind and Copernicus hydrodynamic currents via RK2 integration to rewind slick to exact release origin.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Forensic AIS Attribution: </a:t>
            </a:r>
            <a:r>
              <a:rPr sz="860">
                <a:solidFill>
                  <a:srgbClr val="1E293B"/>
                </a:solidFill>
              </a:rPr>
              <a:t>Queries indexed maritime AIS, filters spatio-temporal funnel, and scores suspect vessels on proximity, behavior, and blackout gaps.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53492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79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How It Addresses the NTRO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15968"/>
            <a:ext cx="50749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Eliminates 'Unattributable' Spills: </a:t>
            </a:r>
            <a:r>
              <a:rPr sz="860">
                <a:solidFill>
                  <a:srgbClr val="1E293B"/>
                </a:solidFill>
              </a:rPr>
              <a:t>Over 80% of marine spills escape liability. TideTrace bridges the physical and temporal gap between observed slick and moving ships.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Catches Evasive Dark Vessels: </a:t>
            </a:r>
            <a:r>
              <a:rPr sz="860">
                <a:solidFill>
                  <a:srgbClr val="1E293B"/>
                </a:solidFill>
              </a:rPr>
              <a:t>Vessels turning off AIS transponders to dump bilge waste are flagged via 30+ min dead-reckoning blackout gap forensics.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Sub-10s Rapid Deployment: </a:t>
            </a:r>
            <a:r>
              <a:rPr sz="860">
                <a:solidFill>
                  <a:srgbClr val="1E293B"/>
                </a:solidFill>
              </a:rPr>
              <a:t>Replaces multi-day manual satellite interpretation with sub-minute automated detection and immediate coastal alerts.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A2540"/>
                </a:solidFill>
              </a:rPr>
              <a:t>• Legally Admissible Proof: </a:t>
            </a:r>
            <a:r>
              <a:rPr sz="860">
                <a:solidFill>
                  <a:srgbClr val="1E293B"/>
                </a:solidFill>
              </a:rPr>
              <a:t>Produces tamper-evident Maritime Pollution Attribution Notes with SHA-256 scene hashes and telemetry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17320"/>
            <a:ext cx="5559552" cy="23317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5285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Innovation and Uniqueness of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55648"/>
            <a:ext cx="5285232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900">
                <a:solidFill>
                  <a:srgbClr val="0284C7"/>
                </a:solidFill>
              </a:rPr>
              <a:t>✓ Look-Alike &amp; Clean Water Floor: </a:t>
            </a:r>
            <a:r>
              <a:rPr sz="860">
                <a:solidFill>
                  <a:srgbClr val="1E293B"/>
                </a:solidFill>
              </a:rPr>
              <a:t>Multi-class segmentation rejects biogenic films. Strict &lt;3.0 dB radiometric floor flags uniform sea with 0 false slicks.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284C7"/>
                </a:solidFill>
              </a:rPr>
              <a:t>✓ Dark Vessel Blackout Tracking: </a:t>
            </a:r>
            <a:r>
              <a:rPr sz="860">
                <a:solidFill>
                  <a:srgbClr val="1E293B"/>
                </a:solidFill>
              </a:rPr>
              <a:t>Flags AIS deactivations (&gt;= 30 min gaps crossing within 5 km of origin); awards S_beh = 0.95 anomaly score.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284C7"/>
                </a:solidFill>
              </a:rPr>
              <a:t>✓ Morphological Telemetry &amp; Geodesy: </a:t>
            </a:r>
            <a:r>
              <a:rPr sz="860">
                <a:solidFill>
                  <a:srgbClr val="1E293B"/>
                </a:solidFill>
              </a:rPr>
              <a:t>Local AEQD projection eliminates distortion; calculates metric area (km²), Feret length, and PCA orientation.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284C7"/>
                </a:solidFill>
              </a:rPr>
              <a:t>✓ Court-Admissible Dossier: </a:t>
            </a:r>
            <a:r>
              <a:rPr sz="860">
                <a:solidFill>
                  <a:srgbClr val="1E293B"/>
                </a:solidFill>
              </a:rPr>
              <a:t>Auto-exports Maritime Pollution Attribution Note (PDF/HTML) with SHA-256 hash and itemized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5559552" cy="2606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5285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Working Prototype: Ranked Culprit Leaderboard</a:t>
            </a:r>
          </a:p>
        </p:txBody>
      </p:sp>
      <p:pic>
        <p:nvPicPr>
          <p:cNvPr id="18" name="Picture 17" descr="vessels_leaderboard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342" y="4160520"/>
            <a:ext cx="5184386" cy="22128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3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TECHNICAL APPROACH (TECHNOLOGIES, PROCESS &amp; WORKING PROTOTYPE)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End-to-End System Pipeline, Tech Stack &amp; Operational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Modular 12-stage automated pipeline uniting deep learning segmentation, metocean physics, and spatio-temporal forensics.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8173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Methodology &amp; Process for Implementation: 5-Stage Automated Pipeline</a:t>
            </a:r>
          </a:p>
        </p:txBody>
      </p:sp>
      <p:pic>
        <p:nvPicPr>
          <p:cNvPr id="9" name="Picture 8" descr="simplified_flowchar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82" y="1719072"/>
            <a:ext cx="8075186" cy="20848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3977639"/>
            <a:ext cx="53492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69079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Technologies to be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15968"/>
            <a:ext cx="507492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b="1" sz="900">
                <a:solidFill>
                  <a:srgbClr val="0A2540"/>
                </a:solidFill>
                <a:latin typeface="Calibri"/>
              </a:rPr>
              <a:t>• Deep Learning: </a:t>
            </a:r>
            <a:r>
              <a:rPr sz="860">
                <a:solidFill>
                  <a:srgbClr val="1E293B"/>
                </a:solidFill>
                <a:latin typeface="Calibri"/>
              </a:rPr>
              <a:t>PyTorch 2.5, Segmentation Models PyTorch (SMP), UNet++ with timm-efficientnet-b0 backbone, ImageNet pre-trained stem.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0A2540"/>
                </a:solidFill>
                <a:latin typeface="Calibri"/>
              </a:rPr>
              <a:t>• Geospatial &amp; Geodesy: </a:t>
            </a:r>
            <a:r>
              <a:rPr sz="860">
                <a:solidFill>
                  <a:srgbClr val="1E293B"/>
                </a:solidFill>
                <a:latin typeface="Calibri"/>
              </a:rPr>
              <a:t>pyproj (Local AEQD projection), rasterio, Great-Circle geodesics, Scipy connected components &amp; morphology.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0A2540"/>
                </a:solidFill>
                <a:latin typeface="Calibri"/>
              </a:rPr>
              <a:t>• Numerical Physics: </a:t>
            </a:r>
            <a:r>
              <a:rPr sz="860">
                <a:solidFill>
                  <a:srgbClr val="1E293B"/>
                </a:solidFill>
                <a:latin typeface="Calibri"/>
              </a:rPr>
              <a:t>2nd-order Runge-Kutta (RK2) midpoint integrator, 50-particle Monte Carlo dispersion, +15° Coriolis leeway deflection.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0A2540"/>
                </a:solidFill>
                <a:latin typeface="Calibri"/>
              </a:rPr>
              <a:t>• Backend &amp; Storage: </a:t>
            </a:r>
            <a:r>
              <a:rPr sz="860">
                <a:solidFill>
                  <a:srgbClr val="1E293B"/>
                </a:solidFill>
                <a:latin typeface="Calibri"/>
              </a:rPr>
              <a:t>FastAPI async REST framework, Pydantic v2 schemas, SQLite spatial/temporal indexing, Uvicorn ASGI server.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0A2540"/>
                </a:solidFill>
                <a:latin typeface="Calibri"/>
              </a:rPr>
              <a:t>• Visual Console: </a:t>
            </a:r>
            <a:r>
              <a:rPr sz="860">
                <a:solidFill>
                  <a:srgbClr val="1E293B"/>
                </a:solidFill>
                <a:latin typeface="Calibri"/>
              </a:rPr>
              <a:t>Vanilla HTML5/CSS3/ES6, Leaflet 1.9, Esri Satellite &amp; Ocean Basemaps, interactive scrubbing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977639"/>
            <a:ext cx="5559552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069079"/>
            <a:ext cx="528523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Working Prototype: Investigation &amp; Drift Console</a:t>
            </a:r>
          </a:p>
        </p:txBody>
      </p:sp>
      <p:pic>
        <p:nvPicPr>
          <p:cNvPr id="15" name="Picture 14" descr="investigate_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304" y="4297680"/>
            <a:ext cx="4884463" cy="20848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4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FEASIBILITY AND VIABILITY (ANALYSIS, RISKS &amp; MITIGATION STRATEGIES)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Operational Feasibility &amp; Technical Risk Mitigation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Ensuring computational efficiency, data accessibility, and high-fidelity resilience against real-world maritime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Computational 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Sub-10s GPU execution (30-45s on CPU). 512x512 sliding-window inference with cosine-tapered edge smoothing guarantees zero memory overflows on standard laptops or edge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417320"/>
            <a:ext cx="3520440" cy="132588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Data Availability &amp;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7556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Relies entirely on open Copernicus Sentinel-1 SAR, public ECMWF ERA5 wind reanalysis, and standardized MarineCadastre / national AIS streams. No paid proprietary satellite vendor lock-in.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520440" cy="13258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Deployment &amp; Interoperability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755648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Modular REST API endpoints (/api/run, /api/health, /api/scoring) enable direct drop-in integration into Indian Coast Guard (ICG) command centres and NTRO maritime surveillance networks.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88036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Challenge 1: SAR Look-Alikes &amp; Open Ocean False Alarms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2783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b="1" sz="900">
                <a:solidFill>
                  <a:srgbClr val="D97706"/>
                </a:solidFill>
                <a:latin typeface="Calibri"/>
              </a:defRPr>
            </a:pPr>
            <a:r>
              <a:t>• Risk: Low wind speeds (&lt;3 m/s) and biogenic slicks mimic petroleum damping in SAR imagery.</a:t>
            </a:r>
          </a:p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• Proven Strategy: Two-stage classification (look-alike vs. mineral oil) + Radiometric Clean Water Floor (contrast span &lt; 3.0 dB classified as uniform sea; Arabian Sea test yields 0 false positives).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288036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971800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Challenge 2: AIS Evasion &amp; Dark Vessels Switching Off Transponders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22783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b="1" sz="900">
                <a:solidFill>
                  <a:srgbClr val="D97706"/>
                </a:solidFill>
                <a:latin typeface="Calibri"/>
              </a:defRPr>
            </a:pPr>
            <a:r>
              <a:t>• Risk: Polluters deliberately turn off AIS transmitters before bilge discharge to conceal presence.</a:t>
            </a:r>
          </a:p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• Proven Strategy: Trajectory Gap Forensics. Analyzes dead-reckoned segments across gaps &gt;= 30 min passing within 5 km of origin; penalizes evasion with 0.95 behavioral anomaly score while protecting thin receivers.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54879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Challenge 3: Chaotic Ocean Eddy Turbulence &amp; Drift Divergence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1091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b="1" sz="900">
                <a:solidFill>
                  <a:srgbClr val="D97706"/>
                </a:solidFill>
                <a:latin typeface="Calibri"/>
              </a:defRPr>
            </a:pPr>
            <a:r>
              <a:t>• Risk: Single-trajectory backward drift diverges rapidly in dynamic coastal ocean currents.</a:t>
            </a:r>
          </a:p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• Proven Strategy: 50-Particle Monte Carlo Ensemble with stochastic velocity jitter (0.1 m/s current, 1.0 m/s wind). Frozen origin threshold triggers when 90% particle spread reaches 8 km, establishing a bounded spatial-temporal search envelope.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7" y="466344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754879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Challenge 4: Cloud Cover &amp; Optical Satellite Blind Spots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01091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50"/>
              </a:spcAft>
              <a:defRPr b="1" sz="900">
                <a:solidFill>
                  <a:srgbClr val="D97706"/>
                </a:solidFill>
                <a:latin typeface="Calibri"/>
              </a:defRPr>
            </a:pPr>
            <a:r>
              <a:t>• Risk: Optical satellites (Sentinel-2, Landsat) are blinded by monsoon clouds, night, and heavy fog.</a:t>
            </a:r>
          </a:p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• Proven Strategy: All-weather Synthetic Aperture Radar (SAR C-band active microwave) serves as primary sensor, penetrating clouds, rain, and darkness 24/7, with optical used purely as opportunistic corroboration.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5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IMPACT AND BENEFITS (AUDIENCE IMPACT &amp; MULTI-DIMENSIONAL BENEFITS)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Empowering Maritime Domain Awareness &amp; Disaster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Delivering actionable intelligence, national ecological protection, legal accountability, and cost savings.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NTRO (Technical Intelligence)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55648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Automated satellite reconnaissance across Indian EEZ; fuses space radar with maritime AIS for strategic maritime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4173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150876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Indian Coast Guard (ICG)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755648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Transforms 3-day search operations into sub-minute actionable intercept coordinates, accelerating emergency cutter deployments.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1" y="14173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50876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DG Shipping &amp; Port Authorities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755648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Enforces MARPOL Annex I compliance with cryptographic proof; enables punitive fines and vessel detentions at ports of call.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5128" y="1417320"/>
            <a:ext cx="2606040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150876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INCOIS &amp; MoES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5" y="1755648"/>
            <a:ext cx="2386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80">
                <a:solidFill>
                  <a:srgbClr val="1E293B"/>
                </a:solidFill>
                <a:latin typeface="Calibri"/>
              </a:defRPr>
            </a:pPr>
            <a:r>
              <a:t>Couples 2D hydrodynamic dispersion forecasting to protect vulnerable coastal ecosystems, marine sanctuaries, and 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Environmental &amp; Ecological 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2783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Rapid Coastal Protection: 36h forward dispersion cone alerts vulnerable mangrove forests (Sundarbans, Gulf of Kutch) and coral reefs before slicks reach shore.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Wildlife Preservation: Reduces toxic hydrocarbon exposure to endangered marine species, turtles, and fisheries.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Pollution Containment: Directs containment skimmers and booms to the densest slick centers immediately.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7" y="288036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2971800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Economic &amp; Resource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22783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80% Cost Reduction: Slashes aviation fuel, flight reconnaissance hours, and patrol vessel transit by navigating directly to origin.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Port Loss Prevention: Rapid containment prevents multi-million dollar port closures and ship traffic delays.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Polluter Pays Principle: Enables recovery of clean-up and environmental damage costs directly from verified guilty vessels.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6344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54879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Legal &amp; Evidentiary Benefits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1091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Eliminates Unattributable Slicks: Delivers forensic evidence bridging physical dispersion and recorded maritime traffic.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Cryptographic Chain of Custody: Auto-exports tamper-evident Maritime Pollution Attribution Notes with SHA-256 scene hashes.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Court-Admissible Proof: Itemizes exact proximity, temporal decay, vessel type prior, and trajectory anomalies.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7" y="4663440"/>
            <a:ext cx="5404104" cy="16642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4754879"/>
            <a:ext cx="51297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Social &amp; Coastal Benefits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5010912"/>
            <a:ext cx="5129784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Fisherman Livelihood Security: Protects traditional coastal fishing grounds and aquaculture from toxic oil contamination.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Desalination Plant Safety: Gives municipal water authorities early warning to shut coastal seawater intake valves.</a:t>
            </a:r>
          </a:p>
          <a:p>
            <a:pPr>
              <a:spcAft>
                <a:spcPts val="200"/>
              </a:spcAft>
              <a:defRPr sz="880">
                <a:solidFill>
                  <a:srgbClr val="1E293B"/>
                </a:solidFill>
                <a:latin typeface="Calibri"/>
              </a:defRPr>
            </a:pPr>
            <a:r>
              <a:t>• Public Health &amp; Tourism: Keeps coastal beaches and recreational shorelines free from hazardous tarballs and fumes.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565392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>
                <a:solidFill>
                  <a:srgbClr val="64748B"/>
                </a:solidFill>
                <a:latin typeface="Calibri"/>
              </a:rPr>
              <a:t>@SIH Idea submission- Template          </a:t>
            </a:r>
            <a:r>
              <a:rPr sz="850">
                <a:solidFill>
                  <a:srgbClr val="64748B"/>
                </a:solidFill>
                <a:latin typeface="Calibri"/>
              </a:rPr>
              <a:t>TideTrace · Team registered on SIH Portal          </a:t>
            </a:r>
            <a:r>
              <a:rPr sz="850" b="1">
                <a:solidFill>
                  <a:srgbClr val="0284C7"/>
                </a:solidFill>
                <a:latin typeface="Calibri"/>
              </a:rPr>
              <a:t>Slide 6 of 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3291840" cy="27432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00" b="1">
                <a:solidFill>
                  <a:srgbClr val="0284C7"/>
                </a:solidFill>
                <a:latin typeface="Trebuchet MS"/>
              </a:defRPr>
            </a:pPr>
            <a:r>
              <a:t>RESEARCH AND REFERENCES (DATASETS, SCIENTIFIC LITERATURE &amp; BENCHMARKS)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292608"/>
            <a:ext cx="2953512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50" b="1">
                <a:solidFill>
                  <a:srgbClr val="64748B"/>
                </a:solidFill>
                <a:latin typeface="Calibri"/>
              </a:defRPr>
            </a:pPr>
            <a:r>
              <a:t>Smart India Hackathon 2026 · Slide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109167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t>Scientific Foundations, Open Datasets &amp; Empirical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Calibri"/>
              </a:defRPr>
            </a:pPr>
            <a:r>
              <a:t>Grounded in published physical oceanography, peer-reviewed remote sensing, and open satellite archives.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3520440" cy="4983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Datasets &amp; Remote Sensing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461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Zenodo Sentinel-1 SAR Oil Spill Dataset: </a:t>
            </a:r>
            <a:r>
              <a:rPr sz="819">
                <a:solidFill>
                  <a:srgbClr val="1E293B"/>
                </a:solidFill>
                <a:latin typeface="Calibri"/>
              </a:rPr>
              <a:t>Parts I, II &amp; III (DOIs: 10.5281/zenodo.8346860, .8253899, .13761290). 1,164 annotated dual-pol SAR image tiles used for UNet++ training &amp; validation.</a:t>
            </a:r>
          </a:p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Copernicus Sentinel-1 SAR IW GRD: </a:t>
            </a:r>
            <a:r>
              <a:rPr sz="819">
                <a:solidFill>
                  <a:srgbClr val="1E293B"/>
                </a:solidFill>
                <a:latin typeface="Calibri"/>
              </a:rPr>
              <a:t>C-band (5.405 GHz) dual-pol (VV/VH) radiometrically terrain corrected (RTC) cloud-optimized GeoTIFFs via Microsoft Planetary Computer.</a:t>
            </a:r>
          </a:p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MarineCadastre.gov &amp; NOAA / BOEM: </a:t>
            </a:r>
            <a:r>
              <a:rPr sz="819">
                <a:solidFill>
                  <a:srgbClr val="1E293B"/>
                </a:solidFill>
                <a:latin typeface="Calibri"/>
              </a:rPr>
              <a:t>Standardized national maritime AIS database. Ingests MMSI, timestamp, SOG, COG, heading, vessel type, and draught into indexed SQLite schema.</a:t>
            </a:r>
          </a:p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ECMWF ERA5 Atmospheric Reanalysis: </a:t>
            </a:r>
            <a:r>
              <a:rPr sz="819">
                <a:solidFill>
                  <a:srgbClr val="1E293B"/>
                </a:solidFill>
                <a:latin typeface="Calibri"/>
              </a:rPr>
              <a:t>Hourly 10m surface wind vectors (u10, v10) at 0.25° resolution via Open-Meteo Archive API.</a:t>
            </a:r>
          </a:p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Copernicus Marine Service (CMEMS): </a:t>
            </a:r>
            <a:r>
              <a:rPr sz="819">
                <a:solidFill>
                  <a:srgbClr val="1E293B"/>
                </a:solidFill>
                <a:latin typeface="Calibri"/>
              </a:rPr>
              <a:t>GLOBAL_ANALYSISFORECAST_PHY_001_024 eddy-resolving 1/12° hydrodynamic surface currents.</a:t>
            </a:r>
          </a:p>
          <a:p>
            <a:pPr>
              <a:spcAft>
                <a:spcPts val="3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Natural Earth Physical Vectors: </a:t>
            </a:r>
            <a:r>
              <a:rPr sz="819">
                <a:solidFill>
                  <a:srgbClr val="1E293B"/>
                </a:solidFill>
                <a:latin typeface="Calibri"/>
              </a:rPr>
              <a:t>1:10m high-resolution land polygons for coastal impact checks; 1:110m and 1:50m simplified vectors for global basemap.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1417320"/>
            <a:ext cx="3520440" cy="4983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Scientific &amp; Peer-Reviewed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1783080"/>
            <a:ext cx="32461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SAR Oil Film Damping Physics: </a:t>
            </a:r>
            <a:r>
              <a:rPr sz="819">
                <a:solidFill>
                  <a:srgbClr val="1E293B"/>
                </a:solidFill>
                <a:latin typeface="Calibri"/>
              </a:rPr>
              <a:t>Alpers, W. et al. (2017). Oil spill detection by imaging radars: Challenges and pitfalls. Remote Sensing of Environment. Details capillary-gravity wave damping and biogenic vs. mineral oil discrimination.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Deep Learning Image Segmentation: </a:t>
            </a:r>
            <a:r>
              <a:rPr sz="819">
                <a:solidFill>
                  <a:srgbClr val="1E293B"/>
                </a:solidFill>
                <a:latin typeface="Calibri"/>
              </a:rPr>
              <a:t>Zhou, Z. et al. (2018). UNet++: A Nested U-Net Architecture for Medical Image Segmentation. IEEE TMI. Provides multi-scale skip pathways for sharp slick boundary delineation.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Lagrangian Metocean Advection: </a:t>
            </a:r>
            <a:r>
              <a:rPr sz="819">
                <a:solidFill>
                  <a:srgbClr val="1E293B"/>
                </a:solidFill>
                <a:latin typeface="Calibri"/>
              </a:rPr>
              <a:t>NOAA GNOME (General NOAA Operational Modeling Environment) Technical Manual. Establishes the 3% wind leeway rule and +15° Ekman Coriolis deflection in Northern Hemisphere.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Numerical Inversion &amp; RK2 Midpoint: </a:t>
            </a:r>
            <a:r>
              <a:rPr sz="819">
                <a:solidFill>
                  <a:srgbClr val="1E293B"/>
                </a:solidFill>
                <a:latin typeface="Calibri"/>
              </a:rPr>
              <a:t>Press, W. et al. Numerical Recipes in C: The Art of Scientific Computing. 2nd-order Runge-Kutta scheme for time-reversible particle advection.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0A2540"/>
                </a:solidFill>
                <a:latin typeface="Calibri"/>
              </a:rPr>
              <a:t>• Spatio-Temporal AIS Forensics: </a:t>
            </a:r>
            <a:r>
              <a:rPr sz="819">
                <a:solidFill>
                  <a:srgbClr val="1E293B"/>
                </a:solidFill>
                <a:latin typeface="Calibri"/>
              </a:rPr>
              <a:t>Arguedas, V. et al. (2018). Maritime anomaly detection and vessel trajectory forecasting using AIS data. Ocean Engineering.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520440" cy="4983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50876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t>• Empirical Validation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783080"/>
            <a:ext cx="32461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0A2540"/>
                </a:solidFill>
                <a:latin typeface="Trebuchet MS"/>
              </a:defRPr>
            </a:pPr>
            <a:r>
              <a:t>Model Evaluation on Zenodo Held-Out Test Set: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257031" y="2057400"/>
          <a:ext cx="3246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914400"/>
              </a:tblGrid>
              <a:tr h="266700"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0A2540"/>
                          </a:solidFill>
                          <a:latin typeface="Trebuchet MS"/>
                        </a:defRPr>
                      </a:pPr>
                      <a:r>
                        <a:t>Metric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A2540"/>
                          </a:solidFill>
                          <a:latin typeface="Trebuchet MS"/>
                        </a:defRPr>
                      </a:pPr>
                      <a:r>
                        <a:t>TideTrace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0A2540"/>
                          </a:solidFill>
                          <a:latin typeface="Trebuchet MS"/>
                        </a:defRPr>
                      </a:pPr>
                      <a:r>
                        <a:t>Baseline</a:t>
                      </a:r>
                    </a:p>
                  </a:txBody>
                  <a:tcPr marL="0" marR="0" marT="0" marB="0"/>
                </a:tc>
              </a:tr>
              <a:tr h="2667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IoU Oil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0.8891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 marL="0" marR="0" marT="0" marB="0"/>
                </a:tc>
              </a:tr>
              <a:tr h="2667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Mean IoU (mIoU)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0.9356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0.2882</a:t>
                      </a:r>
                    </a:p>
                  </a:txBody>
                  <a:tcPr marL="0" marR="0" marT="0" marB="0"/>
                </a:tc>
              </a:tr>
              <a:tr h="2667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Pixel Accuracy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98.44%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86.45%</a:t>
                      </a:r>
                    </a:p>
                  </a:txBody>
                  <a:tcPr marL="0" marR="0" marT="0" marB="0"/>
                </a:tc>
              </a:tr>
              <a:tr h="2667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Water False Oil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0.0106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0.0038</a:t>
                      </a:r>
                    </a:p>
                  </a:txBody>
                  <a:tcPr marL="0" marR="0" marT="0" marB="0"/>
                </a:tc>
              </a:tr>
              <a:tr h="266700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Execution Time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0284C7"/>
                          </a:solidFill>
                          <a:latin typeface="Calibri"/>
                        </a:defRPr>
                      </a:pPr>
                      <a:r>
                        <a:t>&lt; 10s (GPU)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defRPr sz="819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Instant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257031" y="3794760"/>
            <a:ext cx="324612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A2540"/>
                </a:solidFill>
                <a:latin typeface="Trebuchet MS"/>
              </a:defRPr>
            </a:pPr>
            <a:r>
              <a:t>Multi-Sea Scenario Validation:</a:t>
            </a:r>
          </a:p>
          <a:p>
            <a:pPr>
              <a:spcAft>
                <a:spcPts val="250"/>
              </a:spcAft>
            </a:pPr>
            <a:r>
              <a:rPr b="1" sz="850">
                <a:solidFill>
                  <a:srgbClr val="0284C7"/>
                </a:solidFill>
                <a:latin typeface="Calibri"/>
              </a:rPr>
              <a:t>• Gulf of Mexico (MC20): </a:t>
            </a:r>
            <a:r>
              <a:rPr sz="800">
                <a:solidFill>
                  <a:srgbClr val="1E293B"/>
                </a:solidFill>
                <a:latin typeface="Calibri"/>
              </a:rPr>
              <a:t>57 oil slicks detected (15.6 km²), 11h backward hindcast, ranked culprit vessel (MMSI 311211224) with 46min AIS blackout gap.</a:t>
            </a:r>
          </a:p>
          <a:p>
            <a:pPr>
              <a:spcAft>
                <a:spcPts val="250"/>
              </a:spcAft>
            </a:pPr>
            <a:r>
              <a:rPr b="1" sz="850">
                <a:solidFill>
                  <a:srgbClr val="0284C7"/>
                </a:solidFill>
                <a:latin typeface="Calibri"/>
              </a:rPr>
              <a:t>• Arabian Sea (Mumbai Offshore): </a:t>
            </a:r>
            <a:r>
              <a:rPr sz="800">
                <a:solidFill>
                  <a:srgbClr val="1E293B"/>
                </a:solidFill>
                <a:latin typeface="Calibri"/>
              </a:rPr>
              <a:t>Clean water floor test: 1.56 dB contrast span correctly reports 'Uniform Clean Water' with 0 false slicks.</a:t>
            </a:r>
          </a:p>
          <a:p>
            <a:pPr>
              <a:spcAft>
                <a:spcPts val="250"/>
              </a:spcAft>
            </a:pPr>
            <a:r>
              <a:rPr b="1" sz="850">
                <a:solidFill>
                  <a:srgbClr val="0284C7"/>
                </a:solidFill>
                <a:latin typeface="Calibri"/>
              </a:rPr>
              <a:t>• Santa Barbara Channel: </a:t>
            </a:r>
            <a:r>
              <a:rPr sz="800">
                <a:solidFill>
                  <a:srgbClr val="1E293B"/>
                </a:solidFill>
                <a:latin typeface="Calibri"/>
              </a:rPr>
              <a:t>Natural geological seep discrimination and heavy vessel lane isolation.</a:t>
            </a:r>
          </a:p>
          <a:p>
            <a:pPr>
              <a:spcAft>
                <a:spcPts val="250"/>
              </a:spcAft>
            </a:pPr>
            <a:r>
              <a:rPr b="1" sz="850">
                <a:solidFill>
                  <a:srgbClr val="0284C7"/>
                </a:solidFill>
                <a:latin typeface="Calibri"/>
              </a:rPr>
              <a:t>• Caspian Sea (Baku Fields): </a:t>
            </a:r>
            <a:r>
              <a:rPr sz="800">
                <a:solidFill>
                  <a:srgbClr val="1E293B"/>
                </a:solidFill>
                <a:latin typeface="Calibri"/>
              </a:rPr>
              <a:t>Dense offshore platform cluster stress-test.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